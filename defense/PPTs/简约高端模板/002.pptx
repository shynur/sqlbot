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73" r:id="rId3"/>
    <p:sldId id="271" r:id="rId4"/>
    <p:sldId id="269" r:id="rId5"/>
    <p:sldId id="270" r:id="rId6"/>
    <p:sldId id="274" r:id="rId7"/>
    <p:sldId id="275" r:id="rId8"/>
    <p:sldId id="278" r:id="rId9"/>
    <p:sldId id="277" r:id="rId10"/>
    <p:sldId id="280" r:id="rId11"/>
    <p:sldId id="279" r:id="rId12"/>
    <p:sldId id="282" r:id="rId13"/>
    <p:sldId id="281" r:id="rId14"/>
    <p:sldId id="283" r:id="rId15"/>
    <p:sldId id="272" r:id="rId16"/>
    <p:sldId id="284" r:id="rId17"/>
    <p:sldId id="285" r:id="rId18"/>
    <p:sldId id="286" r:id="rId19"/>
    <p:sldId id="267" r:id="rId20"/>
    <p:sldId id="276" r:id="rId21"/>
    <p:sldId id="288" r:id="rId2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582" y="1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package" Target="../embeddings/Microsoft_Excel____1.xlsx"/><Relationship Id="rId2" Type="http://schemas.microsoft.com/office/2011/relationships/chartColorStyle" Target="colors1.xml"/><Relationship Id="rId1" Type="http://schemas.microsoft.com/office/2011/relationships/chartStyle" Target="style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microsoft.com/office/2011/relationships/chartColorStyle" Target="colors2.xml"/><Relationship Id="rId1" Type="http://schemas.microsoft.com/office/2011/relationships/chartStyle" Target="style2.xml"/><Relationship Id="rId5" Type="http://schemas.openxmlformats.org/officeDocument/2006/relationships/package" Target="../embeddings/Microsoft_Excel____2.xlsx"/><Relationship Id="rId4" Type="http://schemas.openxmlformats.org/officeDocument/2006/relationships/image" Target="../media/image7.png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blipFill>
              <a:blip xmlns:r="http://schemas.openxmlformats.org/officeDocument/2006/relationships" r:embed="rId3"/>
              <a:stretch>
                <a:fillRect/>
              </a:stretch>
            </a:blip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blipFill>
              <a:blip xmlns:r="http://schemas.openxmlformats.org/officeDocument/2006/relationships" r:embed="rId4"/>
              <a:stretch>
                <a:fillRect/>
              </a:stretch>
            </a:blip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blipFill>
              <a:blip xmlns:r="http://schemas.openxmlformats.org/officeDocument/2006/relationships" r:embed="rId5"/>
              <a:stretch>
                <a:fillRect/>
              </a:stretch>
            </a:blip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系列 4</c:v>
                </c:pt>
              </c:strCache>
            </c:strRef>
          </c:tx>
          <c:spPr>
            <a:blipFill>
              <a:blip xmlns:r="http://schemas.openxmlformats.org/officeDocument/2006/relationships" r:embed="rId6"/>
              <a:stretch>
                <a:fillRect/>
              </a:stretch>
            </a:blip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类别 1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3"/>
        <c:overlap val="32"/>
        <c:axId val="1036132176"/>
        <c:axId val="1036131616"/>
      </c:barChart>
      <c:catAx>
        <c:axId val="103613217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036131616"/>
        <c:crosses val="autoZero"/>
        <c:auto val="1"/>
        <c:lblAlgn val="ctr"/>
        <c:lblOffset val="100"/>
        <c:noMultiLvlLbl val="0"/>
      </c:catAx>
      <c:valAx>
        <c:axId val="10361316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361321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7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44450" cap="rnd">
              <a:solidFill>
                <a:schemeClr val="tx2"/>
              </a:solidFill>
              <a:round/>
            </a:ln>
            <a:effectLst/>
          </c:spPr>
          <c:marker>
            <c:symbol val="picture"/>
            <c:spPr>
              <a:blipFill>
                <a:blip xmlns:r="http://schemas.openxmlformats.org/officeDocument/2006/relationships" r:embed="rId3"/>
                <a:stretch>
                  <a:fillRect/>
                </a:stretch>
              </a:blipFill>
              <a:ln w="25400">
                <a:noFill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</c:v>
                </c:pt>
                <c:pt idx="1">
                  <c:v>1.6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444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Pt>
            <c:idx val="0"/>
            <c:marker>
              <c:symbol val="picture"/>
              <c:spPr>
                <a:blipFill>
                  <a:blip xmlns:r="http://schemas.openxmlformats.org/officeDocument/2006/relationships" r:embed="rId4"/>
                  <a:stretch>
                    <a:fillRect/>
                  </a:stretch>
                </a:blipFill>
                <a:ln w="25400">
                  <a:noFill/>
                </a:ln>
                <a:effectLst/>
              </c:spPr>
            </c:marker>
            <c:bubble3D val="0"/>
          </c:dPt>
          <c:dPt>
            <c:idx val="1"/>
            <c:marker>
              <c:symbol val="picture"/>
              <c:spPr>
                <a:blipFill>
                  <a:blip xmlns:r="http://schemas.openxmlformats.org/officeDocument/2006/relationships" r:embed="rId4"/>
                  <a:stretch>
                    <a:fillRect/>
                  </a:stretch>
                </a:blipFill>
                <a:ln w="25400">
                  <a:noFill/>
                </a:ln>
                <a:effectLst/>
              </c:spPr>
            </c:marker>
            <c:bubble3D val="0"/>
          </c:dPt>
          <c:dPt>
            <c:idx val="2"/>
            <c:marker>
              <c:symbol val="picture"/>
              <c:spPr>
                <a:blipFill>
                  <a:blip xmlns:r="http://schemas.openxmlformats.org/officeDocument/2006/relationships" r:embed="rId4"/>
                  <a:stretch>
                    <a:fillRect/>
                  </a:stretch>
                </a:blipFill>
                <a:ln w="25400">
                  <a:noFill/>
                </a:ln>
                <a:effectLst/>
              </c:spPr>
            </c:marker>
            <c:bubble3D val="0"/>
          </c:dPt>
          <c:dPt>
            <c:idx val="3"/>
            <c:marker>
              <c:symbol val="picture"/>
              <c:spPr>
                <a:blipFill>
                  <a:blip xmlns:r="http://schemas.openxmlformats.org/officeDocument/2006/relationships" r:embed="rId4"/>
                  <a:stretch>
                    <a:fillRect/>
                  </a:stretch>
                </a:blipFill>
                <a:ln w="25400">
                  <a:noFill/>
                </a:ln>
                <a:effectLst/>
              </c:spPr>
            </c:marker>
            <c:bubble3D val="0"/>
          </c:dPt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91603392"/>
        <c:axId val="791609552"/>
      </c:lineChart>
      <c:catAx>
        <c:axId val="79160339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91609552"/>
        <c:crosses val="autoZero"/>
        <c:auto val="1"/>
        <c:lblAlgn val="ctr"/>
        <c:lblOffset val="100"/>
        <c:noMultiLvlLbl val="0"/>
      </c:catAx>
      <c:valAx>
        <c:axId val="791609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916033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5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0" y="1174279"/>
            <a:ext cx="5940152" cy="0"/>
          </a:xfrm>
          <a:prstGeom prst="line">
            <a:avLst/>
          </a:prstGeom>
          <a:ln w="15875">
            <a:gradFill>
              <a:gsLst>
                <a:gs pos="13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365500" y="296900"/>
            <a:ext cx="7344618" cy="649287"/>
          </a:xfrm>
        </p:spPr>
        <p:txBody>
          <a:bodyPr>
            <a:noAutofit/>
          </a:bodyPr>
          <a:lstStyle>
            <a:lvl1pPr marL="0" indent="0">
              <a:buNone/>
              <a:defRPr sz="4400" b="1">
                <a:solidFill>
                  <a:schemeClr val="accent2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7107187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2015/4/19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0778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2015/4/19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2432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2015/4/19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3978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2015/4/19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9506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2015/4/19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7395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2015/4/19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1154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2015/4/19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3606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2015/4/19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1602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2015/4/19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730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2015/4/19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6944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2015/4/19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9008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6293224" y="4371242"/>
            <a:ext cx="22833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prstClr val="black">
                    <a:lumMod val="65000"/>
                    <a:lumOff val="35000"/>
                  </a:prstClr>
                </a:solidFill>
              </a:rPr>
              <a:t>答辩人</a:t>
            </a:r>
            <a:r>
              <a:rPr lang="zh-CN" altLang="en-US" sz="2000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：</a:t>
            </a:r>
            <a:r>
              <a:rPr lang="en-US" altLang="zh-CN" sz="2000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J-</a:t>
            </a:r>
            <a:r>
              <a:rPr lang="en-US" altLang="zh-CN" sz="2000" dirty="0" err="1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JaSon</a:t>
            </a:r>
            <a:endParaRPr lang="en-US" altLang="zh-CN" sz="2000" dirty="0" smtClean="0">
              <a:solidFill>
                <a:prstClr val="black">
                  <a:lumMod val="65000"/>
                  <a:lumOff val="35000"/>
                </a:prstClr>
              </a:solidFill>
            </a:endParaRPr>
          </a:p>
          <a:p>
            <a:r>
              <a:rPr lang="zh-CN" altLang="en-US" sz="2000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指导老师：徐老师</a:t>
            </a:r>
            <a:endParaRPr lang="zh-CN" altLang="en-US" sz="2000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61162" y="2832269"/>
            <a:ext cx="83561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chemeClr val="accent2"/>
                </a:solidFill>
              </a:rPr>
              <a:t>毕业论文答辩模版</a:t>
            </a:r>
            <a:endParaRPr lang="zh-CN" altLang="en-US" sz="5400" b="1" dirty="0">
              <a:solidFill>
                <a:schemeClr val="accent2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37021" y="3764377"/>
            <a:ext cx="60044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solidFill>
                  <a:prstClr val="black">
                    <a:lumMod val="65000"/>
                    <a:lumOff val="35000"/>
                  </a:prstClr>
                </a:solidFill>
              </a:rPr>
              <a:t>毕业答辩副标题</a:t>
            </a:r>
            <a:endParaRPr lang="zh-CN" altLang="zh-CN" sz="2000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397147" y="3576763"/>
            <a:ext cx="1706950" cy="2265198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 rot="19372238">
            <a:off x="1571896" y="-115346"/>
            <a:ext cx="6946439" cy="6946439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 rot="19380000">
            <a:off x="885831" y="1225703"/>
            <a:ext cx="2088232" cy="216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7607845" y="480282"/>
            <a:ext cx="968742" cy="1285563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1062822" y="4848906"/>
            <a:ext cx="438448" cy="581839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0770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Content</a:t>
            </a:r>
            <a:r>
              <a:rPr lang="en-US" altLang="zh-CN" sz="14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800" b="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b="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en-US" altLang="zh-CN" sz="2800" b="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800" b="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 rot="18900000" flipH="1">
            <a:off x="729070" y="3055162"/>
            <a:ext cx="1379191" cy="13791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99342" y="3236926"/>
            <a:ext cx="123864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000" dirty="0" smtClean="0">
                <a:solidFill>
                  <a:schemeClr val="bg1"/>
                </a:solidFill>
                <a:latin typeface="+mn-ea"/>
              </a:rPr>
              <a:t>研究</a:t>
            </a:r>
            <a:r>
              <a:rPr lang="zh-CN" altLang="en-US" sz="3000" dirty="0">
                <a:solidFill>
                  <a:schemeClr val="bg1"/>
                </a:solidFill>
                <a:latin typeface="+mn-ea"/>
              </a:rPr>
              <a:t>背景</a:t>
            </a:r>
            <a:endParaRPr lang="zh-CN" altLang="en-US" sz="3000" dirty="0">
              <a:solidFill>
                <a:schemeClr val="bg1"/>
              </a:solidFill>
              <a:latin typeface="+mn-ea"/>
              <a:cs typeface="Microsoft New Tai Lue" panose="020B0502040204020203" pitchFamily="34" charset="0"/>
            </a:endParaRPr>
          </a:p>
        </p:txBody>
      </p:sp>
      <p:sp>
        <p:nvSpPr>
          <p:cNvPr id="42" name="矩形 41"/>
          <p:cNvSpPr/>
          <p:nvPr/>
        </p:nvSpPr>
        <p:spPr>
          <a:xfrm rot="18900000" flipH="1">
            <a:off x="2831293" y="3055162"/>
            <a:ext cx="1379191" cy="13791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2901564" y="3236925"/>
            <a:ext cx="123864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000" dirty="0" smtClean="0">
                <a:solidFill>
                  <a:schemeClr val="bg1"/>
                </a:solidFill>
                <a:latin typeface="+mn-ea"/>
              </a:rPr>
              <a:t>研究方案</a:t>
            </a:r>
            <a:endParaRPr lang="zh-CN" altLang="en-US" sz="3000" dirty="0">
              <a:solidFill>
                <a:schemeClr val="bg1"/>
              </a:solidFill>
              <a:latin typeface="+mn-ea"/>
              <a:cs typeface="Microsoft New Tai Lue" panose="020B0502040204020203" pitchFamily="34" charset="0"/>
            </a:endParaRPr>
          </a:p>
        </p:txBody>
      </p:sp>
      <p:sp>
        <p:nvSpPr>
          <p:cNvPr id="45" name="矩形 44"/>
          <p:cNvSpPr/>
          <p:nvPr/>
        </p:nvSpPr>
        <p:spPr>
          <a:xfrm rot="18900000" flipH="1">
            <a:off x="4933516" y="3055162"/>
            <a:ext cx="1379191" cy="13791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5003787" y="3236925"/>
            <a:ext cx="123864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000" dirty="0" smtClean="0">
                <a:solidFill>
                  <a:schemeClr val="bg1"/>
                </a:solidFill>
                <a:latin typeface="+mn-ea"/>
              </a:rPr>
              <a:t>研究成果</a:t>
            </a:r>
            <a:endParaRPr lang="zh-CN" altLang="en-US" sz="3000" dirty="0">
              <a:solidFill>
                <a:schemeClr val="bg1"/>
              </a:solidFill>
              <a:latin typeface="+mn-ea"/>
              <a:cs typeface="Microsoft New Tai Lue" panose="020B0502040204020203" pitchFamily="34" charset="0"/>
            </a:endParaRPr>
          </a:p>
        </p:txBody>
      </p:sp>
      <p:sp>
        <p:nvSpPr>
          <p:cNvPr id="48" name="矩形 47"/>
          <p:cNvSpPr/>
          <p:nvPr/>
        </p:nvSpPr>
        <p:spPr>
          <a:xfrm rot="18900000" flipH="1">
            <a:off x="7035740" y="3055162"/>
            <a:ext cx="1379191" cy="13791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7106011" y="3236924"/>
            <a:ext cx="123864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000" dirty="0" smtClean="0">
                <a:solidFill>
                  <a:schemeClr val="bg1"/>
                </a:solidFill>
                <a:latin typeface="+mn-ea"/>
              </a:rPr>
              <a:t>研究总结</a:t>
            </a:r>
            <a:endParaRPr lang="zh-CN" altLang="en-US" sz="3000" dirty="0">
              <a:solidFill>
                <a:schemeClr val="bg1"/>
              </a:solidFill>
              <a:latin typeface="+mn-ea"/>
              <a:cs typeface="Microsoft New Tai Lue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498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5"/>
          <p:cNvSpPr/>
          <p:nvPr/>
        </p:nvSpPr>
        <p:spPr>
          <a:xfrm>
            <a:off x="2905372" y="1644717"/>
            <a:ext cx="3333255" cy="2873495"/>
          </a:xfrm>
          <a:prstGeom prst="triangle">
            <a:avLst/>
          </a:prstGeom>
          <a:solidFill>
            <a:schemeClr val="accent2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599018" y="2934978"/>
            <a:ext cx="194596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dirty="0" smtClean="0">
                <a:solidFill>
                  <a:schemeClr val="bg1"/>
                </a:solidFill>
              </a:rPr>
              <a:t>研究</a:t>
            </a:r>
            <a:endParaRPr lang="en-US" altLang="zh-CN" sz="4400" dirty="0" smtClean="0">
              <a:solidFill>
                <a:schemeClr val="bg1"/>
              </a:solidFill>
            </a:endParaRPr>
          </a:p>
          <a:p>
            <a:pPr algn="ctr"/>
            <a:r>
              <a:rPr lang="zh-CN" altLang="en-US" sz="4400" dirty="0" smtClean="0">
                <a:solidFill>
                  <a:schemeClr val="bg1"/>
                </a:solidFill>
              </a:rPr>
              <a:t>背景</a:t>
            </a:r>
            <a:endParaRPr lang="zh-CN" alt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941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Background</a:t>
            </a:r>
            <a:r>
              <a:rPr lang="en-US" altLang="zh-CN" sz="1400" dirty="0" smtClean="0"/>
              <a:t> </a:t>
            </a:r>
            <a:r>
              <a:rPr lang="en-US" altLang="zh-CN" sz="2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背景</a:t>
            </a:r>
            <a:r>
              <a:rPr lang="en-US" altLang="zh-CN" sz="2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250254" y="2740804"/>
            <a:ext cx="705678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solidFill>
                  <a:srgbClr val="000000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Route recommendation service has become a big business in industry since traveling is now an important part of our daily life. </a:t>
            </a:r>
            <a:endParaRPr lang="zh-CN" altLang="en-US" sz="2400" dirty="0">
              <a:solidFill>
                <a:prstClr val="black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Microsoft New Tai Lue" panose="020B0502040204020203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68386" y="2418727"/>
            <a:ext cx="103105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600" b="1" dirty="0">
                <a:solidFill>
                  <a:schemeClr val="accent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“</a:t>
            </a:r>
          </a:p>
        </p:txBody>
      </p:sp>
      <p:sp>
        <p:nvSpPr>
          <p:cNvPr id="7" name="矩形 6"/>
          <p:cNvSpPr/>
          <p:nvPr/>
        </p:nvSpPr>
        <p:spPr>
          <a:xfrm>
            <a:off x="7639440" y="3941133"/>
            <a:ext cx="1031051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6600" b="1" dirty="0">
                <a:solidFill>
                  <a:schemeClr val="accent2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”</a:t>
            </a:r>
          </a:p>
        </p:txBody>
      </p:sp>
      <p:sp>
        <p:nvSpPr>
          <p:cNvPr id="8" name="矩形 7"/>
          <p:cNvSpPr/>
          <p:nvPr/>
        </p:nvSpPr>
        <p:spPr>
          <a:xfrm>
            <a:off x="1250254" y="3907708"/>
            <a:ext cx="46773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 smtClean="0">
                <a:solidFill>
                  <a:schemeClr val="accent2"/>
                </a:solidFill>
                <a:cs typeface="Microsoft New Tai Lue" panose="020B0502040204020203" pitchFamily="34" charset="0"/>
              </a:rPr>
              <a:t>引用一段话来讲述研究背景。</a:t>
            </a:r>
            <a:endParaRPr lang="zh-CN" altLang="en-US" sz="2000" dirty="0">
              <a:solidFill>
                <a:schemeClr val="accent2"/>
              </a:solidFill>
              <a:cs typeface="Microsoft New Tai Lue" panose="020B0502040204020203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455210" y="5141462"/>
            <a:ext cx="18518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dirty="0" smtClean="0">
                <a:solidFill>
                  <a:prstClr val="black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——XXX</a:t>
            </a:r>
            <a:endParaRPr lang="zh-CN" altLang="en-US" sz="2400" dirty="0">
              <a:solidFill>
                <a:prstClr val="black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65500" y="6358064"/>
            <a:ext cx="270318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注：在这里输入引用说明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Microsoft New Tai Lue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0618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Background</a:t>
            </a:r>
            <a:r>
              <a:rPr lang="en-US" altLang="zh-CN" sz="1400" dirty="0" smtClean="0"/>
              <a:t> </a:t>
            </a:r>
            <a:r>
              <a:rPr lang="en-US" altLang="zh-CN" sz="2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背景</a:t>
            </a:r>
            <a:r>
              <a:rPr lang="en-US" altLang="zh-CN" sz="2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/>
          </a:p>
        </p:txBody>
      </p:sp>
      <p:graphicFrame>
        <p:nvGraphicFramePr>
          <p:cNvPr id="16" name="图表 15"/>
          <p:cNvGraphicFramePr/>
          <p:nvPr>
            <p:extLst>
              <p:ext uri="{D42A27DB-BD31-4B8C-83A1-F6EECF244321}">
                <p14:modId xmlns:p14="http://schemas.microsoft.com/office/powerpoint/2010/main" val="288020281"/>
              </p:ext>
            </p:extLst>
          </p:nvPr>
        </p:nvGraphicFramePr>
        <p:xfrm>
          <a:off x="1524000" y="1800412"/>
          <a:ext cx="6096000" cy="38554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矩形 17"/>
          <p:cNvSpPr/>
          <p:nvPr/>
        </p:nvSpPr>
        <p:spPr>
          <a:xfrm>
            <a:off x="2233314" y="5723061"/>
            <a:ext cx="46773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accent2"/>
                </a:solidFill>
                <a:cs typeface="Microsoft New Tai Lue" panose="020B0502040204020203" pitchFamily="34" charset="0"/>
              </a:rPr>
              <a:t>用一张图表来说明</a:t>
            </a:r>
            <a:r>
              <a:rPr lang="zh-CN" altLang="en-US" sz="2000" dirty="0" smtClean="0">
                <a:solidFill>
                  <a:schemeClr val="accent2"/>
                </a:solidFill>
                <a:cs typeface="Microsoft New Tai Lue" panose="020B0502040204020203" pitchFamily="34" charset="0"/>
              </a:rPr>
              <a:t>研究背景</a:t>
            </a:r>
            <a:endParaRPr lang="zh-CN" altLang="en-US" sz="2000" dirty="0">
              <a:solidFill>
                <a:schemeClr val="accent2"/>
              </a:solidFill>
              <a:cs typeface="Microsoft New Tai Lue" panose="020B0502040204020203" pitchFamily="34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65500" y="6358064"/>
            <a:ext cx="270318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注：在这里输入引用说明</a:t>
            </a:r>
            <a:endParaRPr lang="zh-CN" altLang="en-US" sz="160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Microsoft New Tai Lue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400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Background</a:t>
            </a:r>
            <a:r>
              <a:rPr lang="en-US" altLang="zh-CN" sz="1400" dirty="0" smtClean="0"/>
              <a:t> </a:t>
            </a:r>
            <a:r>
              <a:rPr lang="en-US" altLang="zh-CN" sz="2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背景</a:t>
            </a:r>
            <a:r>
              <a:rPr lang="en-US" altLang="zh-CN" sz="2800" b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1188000" y="1403829"/>
            <a:ext cx="6768000" cy="4528800"/>
            <a:chOff x="1156447" y="1331259"/>
            <a:chExt cx="6768000" cy="4528800"/>
          </a:xfrm>
        </p:grpSpPr>
        <p:sp>
          <p:nvSpPr>
            <p:cNvPr id="3" name="矩形 2"/>
            <p:cNvSpPr/>
            <p:nvPr/>
          </p:nvSpPr>
          <p:spPr>
            <a:xfrm>
              <a:off x="1156447" y="1331259"/>
              <a:ext cx="6768000" cy="45288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8447" y="1403184"/>
              <a:ext cx="6624000" cy="4384950"/>
            </a:xfrm>
            <a:prstGeom prst="rect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</p:pic>
      </p:grpSp>
      <p:sp>
        <p:nvSpPr>
          <p:cNvPr id="7" name="矩形 6"/>
          <p:cNvSpPr/>
          <p:nvPr/>
        </p:nvSpPr>
        <p:spPr>
          <a:xfrm>
            <a:off x="2233314" y="6057418"/>
            <a:ext cx="46773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accent2"/>
                </a:solidFill>
                <a:cs typeface="Microsoft New Tai Lue" panose="020B0502040204020203" pitchFamily="34" charset="0"/>
              </a:rPr>
              <a:t>用一张图片来说明</a:t>
            </a:r>
            <a:r>
              <a:rPr lang="zh-CN" altLang="en-US" sz="2000" dirty="0" smtClean="0">
                <a:solidFill>
                  <a:schemeClr val="accent2"/>
                </a:solidFill>
                <a:cs typeface="Microsoft New Tai Lue" panose="020B0502040204020203" pitchFamily="34" charset="0"/>
              </a:rPr>
              <a:t>研究背景</a:t>
            </a:r>
            <a:endParaRPr lang="zh-CN" altLang="en-US" sz="2000" dirty="0">
              <a:solidFill>
                <a:schemeClr val="accent2"/>
              </a:solidFill>
              <a:cs typeface="Microsoft New Tai Lue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4062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>
            <a:spLocks noChangeAspect="1"/>
          </p:cNvSpPr>
          <p:nvPr/>
        </p:nvSpPr>
        <p:spPr>
          <a:xfrm rot="2700000">
            <a:off x="3276000" y="2133000"/>
            <a:ext cx="2592000" cy="2592000"/>
          </a:xfrm>
          <a:prstGeom prst="rect">
            <a:avLst/>
          </a:prstGeom>
          <a:solidFill>
            <a:schemeClr val="accent2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599019" y="2705725"/>
            <a:ext cx="194596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dirty="0" smtClean="0">
                <a:solidFill>
                  <a:schemeClr val="bg1"/>
                </a:solidFill>
              </a:rPr>
              <a:t>研究</a:t>
            </a:r>
            <a:endParaRPr lang="en-US" altLang="zh-CN" sz="4400" dirty="0" smtClean="0">
              <a:solidFill>
                <a:schemeClr val="bg1"/>
              </a:solidFill>
            </a:endParaRPr>
          </a:p>
          <a:p>
            <a:pPr algn="ctr"/>
            <a:r>
              <a:rPr lang="zh-CN" altLang="en-US" sz="4400" dirty="0" smtClean="0">
                <a:solidFill>
                  <a:schemeClr val="bg1"/>
                </a:solidFill>
              </a:rPr>
              <a:t>方案</a:t>
            </a:r>
            <a:endParaRPr lang="zh-CN" alt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891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Solution</a:t>
            </a:r>
            <a:r>
              <a:rPr lang="en-US" altLang="zh-CN" sz="1400" dirty="0" smtClean="0"/>
              <a:t> </a:t>
            </a:r>
            <a:r>
              <a:rPr lang="en-US" altLang="zh-CN" sz="2800" b="0" dirty="0" smtClean="0"/>
              <a:t>(</a:t>
            </a:r>
            <a:r>
              <a:rPr lang="zh-CN" altLang="en-US" sz="2800" b="0" dirty="0" smtClean="0"/>
              <a:t>方案</a:t>
            </a:r>
            <a:r>
              <a:rPr lang="en-US" altLang="zh-CN" sz="2800" b="0" dirty="0" smtClean="0"/>
              <a:t>)</a:t>
            </a:r>
            <a:endParaRPr lang="zh-CN" altLang="en-US" b="0" dirty="0"/>
          </a:p>
        </p:txBody>
      </p:sp>
      <p:sp>
        <p:nvSpPr>
          <p:cNvPr id="13" name="矩形 12"/>
          <p:cNvSpPr/>
          <p:nvPr/>
        </p:nvSpPr>
        <p:spPr>
          <a:xfrm>
            <a:off x="647564" y="1703720"/>
            <a:ext cx="78488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 smtClean="0">
                <a:solidFill>
                  <a:schemeClr val="accent2"/>
                </a:solidFill>
                <a:latin typeface="+mn-ea"/>
              </a:rPr>
              <a:t>方案具体步骤说明</a:t>
            </a:r>
            <a:endParaRPr lang="zh-CN" altLang="en-US" sz="2400" dirty="0">
              <a:solidFill>
                <a:schemeClr val="accent2"/>
              </a:solidFill>
              <a:latin typeface="+mn-ea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625288" y="4050806"/>
            <a:ext cx="7893424" cy="244518"/>
            <a:chOff x="625288" y="3441211"/>
            <a:chExt cx="7893424" cy="244518"/>
          </a:xfrm>
        </p:grpSpPr>
        <p:cxnSp>
          <p:nvCxnSpPr>
            <p:cNvPr id="12" name="直接箭头连接符 11"/>
            <p:cNvCxnSpPr/>
            <p:nvPr/>
          </p:nvCxnSpPr>
          <p:spPr>
            <a:xfrm>
              <a:off x="625288" y="3563471"/>
              <a:ext cx="7893424" cy="0"/>
            </a:xfrm>
            <a:prstGeom prst="straightConnector1">
              <a:avLst/>
            </a:prstGeom>
            <a:ln w="31750">
              <a:solidFill>
                <a:schemeClr val="tx1">
                  <a:lumMod val="50000"/>
                  <a:lumOff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组合 17"/>
            <p:cNvGrpSpPr/>
            <p:nvPr/>
          </p:nvGrpSpPr>
          <p:grpSpPr>
            <a:xfrm>
              <a:off x="2086850" y="3441211"/>
              <a:ext cx="4970300" cy="244518"/>
              <a:chOff x="1944667" y="3441211"/>
              <a:chExt cx="4970300" cy="244518"/>
            </a:xfrm>
          </p:grpSpPr>
          <p:sp>
            <p:nvSpPr>
              <p:cNvPr id="14" name="矩形 13"/>
              <p:cNvSpPr>
                <a:spLocks noChangeAspect="1"/>
              </p:cNvSpPr>
              <p:nvPr/>
            </p:nvSpPr>
            <p:spPr>
              <a:xfrm rot="2700000">
                <a:off x="1944667" y="3441211"/>
                <a:ext cx="244518" cy="244518"/>
              </a:xfrm>
              <a:prstGeom prst="rect">
                <a:avLst/>
              </a:prstGeom>
              <a:solidFill>
                <a:schemeClr val="accent2"/>
              </a:solidFill>
              <a:ln w="158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5" name="矩形 14"/>
              <p:cNvSpPr>
                <a:spLocks noChangeAspect="1"/>
              </p:cNvSpPr>
              <p:nvPr/>
            </p:nvSpPr>
            <p:spPr>
              <a:xfrm rot="2700000">
                <a:off x="3519928" y="3441211"/>
                <a:ext cx="244518" cy="244518"/>
              </a:xfrm>
              <a:prstGeom prst="rect">
                <a:avLst/>
              </a:prstGeom>
              <a:solidFill>
                <a:schemeClr val="accent2"/>
              </a:solidFill>
              <a:ln w="158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6" name="矩形 15"/>
              <p:cNvSpPr>
                <a:spLocks noChangeAspect="1"/>
              </p:cNvSpPr>
              <p:nvPr/>
            </p:nvSpPr>
            <p:spPr>
              <a:xfrm rot="2700000">
                <a:off x="5095189" y="3441211"/>
                <a:ext cx="244518" cy="244518"/>
              </a:xfrm>
              <a:prstGeom prst="rect">
                <a:avLst/>
              </a:prstGeom>
              <a:solidFill>
                <a:schemeClr val="accent2"/>
              </a:solidFill>
              <a:ln w="158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17" name="矩形 16"/>
              <p:cNvSpPr>
                <a:spLocks noChangeAspect="1"/>
              </p:cNvSpPr>
              <p:nvPr/>
            </p:nvSpPr>
            <p:spPr>
              <a:xfrm rot="2700000">
                <a:off x="6670449" y="3441211"/>
                <a:ext cx="244518" cy="244518"/>
              </a:xfrm>
              <a:prstGeom prst="rect">
                <a:avLst/>
              </a:prstGeom>
              <a:solidFill>
                <a:schemeClr val="accent2"/>
              </a:solidFill>
              <a:ln w="158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20" name="矩形 19"/>
          <p:cNvSpPr/>
          <p:nvPr/>
        </p:nvSpPr>
        <p:spPr>
          <a:xfrm>
            <a:off x="1185926" y="2777778"/>
            <a:ext cx="20463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在这里输入方案步骤，在这里输入方案步骤，在这里输入方案步骤。</a:t>
            </a:r>
          </a:p>
        </p:txBody>
      </p:sp>
      <p:sp>
        <p:nvSpPr>
          <p:cNvPr id="23" name="矩形 22"/>
          <p:cNvSpPr/>
          <p:nvPr/>
        </p:nvSpPr>
        <p:spPr>
          <a:xfrm>
            <a:off x="2761187" y="4382540"/>
            <a:ext cx="20463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在这里输入方案步骤，在这里输入方案步骤，在这里输入方案步骤。</a:t>
            </a:r>
          </a:p>
        </p:txBody>
      </p:sp>
      <p:sp>
        <p:nvSpPr>
          <p:cNvPr id="24" name="矩形 23"/>
          <p:cNvSpPr/>
          <p:nvPr/>
        </p:nvSpPr>
        <p:spPr>
          <a:xfrm>
            <a:off x="4336448" y="2777778"/>
            <a:ext cx="20463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在这里输入方案步骤，在这里输入方案步骤，在这里输入方案步骤。</a:t>
            </a:r>
          </a:p>
        </p:txBody>
      </p:sp>
      <p:sp>
        <p:nvSpPr>
          <p:cNvPr id="25" name="矩形 24"/>
          <p:cNvSpPr/>
          <p:nvPr/>
        </p:nvSpPr>
        <p:spPr>
          <a:xfrm>
            <a:off x="5911708" y="4382540"/>
            <a:ext cx="20463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在这里输入方案步骤，在这里输入方案步骤，在这里输入方案步骤。</a:t>
            </a:r>
          </a:p>
        </p:txBody>
      </p:sp>
    </p:spTree>
    <p:extLst>
      <p:ext uri="{BB962C8B-B14F-4D97-AF65-F5344CB8AC3E}">
        <p14:creationId xmlns:p14="http://schemas.microsoft.com/office/powerpoint/2010/main" val="3403981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Solution</a:t>
            </a:r>
            <a:r>
              <a:rPr lang="en-US" altLang="zh-CN" sz="1400" dirty="0" smtClean="0"/>
              <a:t> </a:t>
            </a:r>
            <a:r>
              <a:rPr lang="en-US" altLang="zh-CN" sz="2800" b="0" dirty="0" smtClean="0"/>
              <a:t>(</a:t>
            </a:r>
            <a:r>
              <a:rPr lang="zh-CN" altLang="en-US" sz="2800" b="0" dirty="0" smtClean="0"/>
              <a:t>方案</a:t>
            </a:r>
            <a:r>
              <a:rPr lang="en-US" altLang="zh-CN" sz="2800" b="0" dirty="0" smtClean="0"/>
              <a:t>)</a:t>
            </a:r>
            <a:endParaRPr lang="zh-CN" altLang="en-US" b="0" dirty="0"/>
          </a:p>
        </p:txBody>
      </p:sp>
      <p:sp>
        <p:nvSpPr>
          <p:cNvPr id="3" name="矩形 2"/>
          <p:cNvSpPr/>
          <p:nvPr/>
        </p:nvSpPr>
        <p:spPr>
          <a:xfrm>
            <a:off x="647564" y="1959249"/>
            <a:ext cx="7848872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zh-CN" altLang="en-US" sz="2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方案说明：</a:t>
            </a:r>
            <a:endParaRPr lang="en-US" altLang="zh-CN" sz="2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indent="457200" algn="just"/>
            <a:r>
              <a:rPr lang="zh-CN" altLang="en-US" sz="2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在这里输入方案说明，</a:t>
            </a:r>
            <a:r>
              <a:rPr lang="zh-CN" altLang="en-US" sz="2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在这里输入方案说明，在这里输入方案说明，在这里输入方案说明，在这里输入方案说明，在这里输入方案说明</a:t>
            </a:r>
            <a:r>
              <a:rPr lang="zh-CN" altLang="en-US" sz="2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。</a:t>
            </a:r>
            <a:endParaRPr lang="en-US" altLang="zh-CN" sz="22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indent="457200" algn="just"/>
            <a:r>
              <a:rPr lang="zh-CN" altLang="en-US" sz="2200" dirty="0" smtClean="0">
                <a:solidFill>
                  <a:schemeClr val="accent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所以，需要选择这样的方案。</a:t>
            </a:r>
            <a:endParaRPr lang="zh-CN" altLang="en-US" sz="2200" dirty="0">
              <a:solidFill>
                <a:schemeClr val="accent2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711115" y="1760918"/>
            <a:ext cx="803049" cy="262191"/>
            <a:chOff x="683546" y="2736327"/>
            <a:chExt cx="803049" cy="262191"/>
          </a:xfrm>
        </p:grpSpPr>
        <p:sp>
          <p:nvSpPr>
            <p:cNvPr id="6" name="矩形 5"/>
            <p:cNvSpPr/>
            <p:nvPr/>
          </p:nvSpPr>
          <p:spPr>
            <a:xfrm rot="18900000" flipH="1">
              <a:off x="861276" y="2736327"/>
              <a:ext cx="262191" cy="262191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 rot="18900000" flipH="1">
              <a:off x="683546" y="2960121"/>
              <a:ext cx="803049" cy="0"/>
            </a:xfrm>
            <a:prstGeom prst="line">
              <a:avLst/>
            </a:prstGeom>
            <a:ln w="25400">
              <a:gradFill>
                <a:gsLst>
                  <a:gs pos="0">
                    <a:schemeClr val="accent5">
                      <a:alpha val="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/>
          <p:cNvGrpSpPr/>
          <p:nvPr/>
        </p:nvGrpSpPr>
        <p:grpSpPr>
          <a:xfrm>
            <a:off x="711115" y="4221266"/>
            <a:ext cx="803049" cy="262191"/>
            <a:chOff x="683546" y="2736327"/>
            <a:chExt cx="803049" cy="262191"/>
          </a:xfrm>
        </p:grpSpPr>
        <p:sp>
          <p:nvSpPr>
            <p:cNvPr id="9" name="矩形 8"/>
            <p:cNvSpPr/>
            <p:nvPr/>
          </p:nvSpPr>
          <p:spPr>
            <a:xfrm rot="18900000" flipH="1">
              <a:off x="861276" y="2736327"/>
              <a:ext cx="262191" cy="262191"/>
            </a:xfrm>
            <a:prstGeom prst="rect">
              <a:avLst/>
            </a:prstGeom>
            <a:noFill/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 rot="18900000" flipH="1">
              <a:off x="683546" y="2960121"/>
              <a:ext cx="803049" cy="0"/>
            </a:xfrm>
            <a:prstGeom prst="line">
              <a:avLst/>
            </a:prstGeom>
            <a:ln w="25400">
              <a:gradFill>
                <a:gsLst>
                  <a:gs pos="0">
                    <a:schemeClr val="accent5">
                      <a:alpha val="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alpha val="0"/>
                    </a:schemeClr>
                  </a:gs>
                </a:gsLst>
                <a:lin ang="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矩形 10"/>
          <p:cNvSpPr/>
          <p:nvPr/>
        </p:nvSpPr>
        <p:spPr>
          <a:xfrm>
            <a:off x="647564" y="4416222"/>
            <a:ext cx="7848872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/>
            <a:r>
              <a:rPr lang="zh-CN" altLang="en-US" sz="2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方案说明：</a:t>
            </a:r>
            <a:endParaRPr lang="en-US" altLang="zh-CN" sz="220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indent="457200" algn="just"/>
            <a:r>
              <a:rPr lang="zh-CN" altLang="en-US" sz="2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在这里输入方案说明，</a:t>
            </a:r>
            <a:r>
              <a:rPr lang="zh-CN" altLang="en-US" sz="2200" dirty="0" smtClean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在这里输入方案说明，在这里输入方案说明，在这里输入方案说明，在这里输入方案说明，在这里输入方案说明，在这里输入方案说明。</a:t>
            </a:r>
            <a:endParaRPr lang="en-US" altLang="zh-CN" sz="2200" dirty="0" smtClean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indent="457200" algn="just"/>
            <a:r>
              <a:rPr lang="zh-CN" altLang="en-US" sz="2200" dirty="0" smtClean="0">
                <a:solidFill>
                  <a:schemeClr val="accent2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所以，需要选择这样的方案。</a:t>
            </a:r>
            <a:endParaRPr lang="zh-CN" altLang="en-US" sz="2200" dirty="0">
              <a:solidFill>
                <a:schemeClr val="accent2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98603" y="3893686"/>
            <a:ext cx="5940152" cy="0"/>
          </a:xfrm>
          <a:prstGeom prst="line">
            <a:avLst/>
          </a:prstGeom>
          <a:ln w="15875">
            <a:gradFill>
              <a:gsLst>
                <a:gs pos="1300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rot="16200000">
            <a:off x="-441457" y="3546016"/>
            <a:ext cx="2088232" cy="0"/>
          </a:xfrm>
          <a:prstGeom prst="line">
            <a:avLst/>
          </a:prstGeom>
          <a:ln w="15875">
            <a:gradFill>
              <a:gsLst>
                <a:gs pos="1300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8527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Solution</a:t>
            </a:r>
            <a:r>
              <a:rPr lang="en-US" altLang="zh-CN" sz="1400" dirty="0" smtClean="0"/>
              <a:t> </a:t>
            </a:r>
            <a:r>
              <a:rPr lang="en-US" altLang="zh-CN" sz="2800" b="0" dirty="0" smtClean="0"/>
              <a:t>(</a:t>
            </a:r>
            <a:r>
              <a:rPr lang="zh-CN" altLang="en-US" sz="2800" b="0" dirty="0" smtClean="0"/>
              <a:t>方案</a:t>
            </a:r>
            <a:r>
              <a:rPr lang="en-US" altLang="zh-CN" sz="2800" b="0" dirty="0" smtClean="0"/>
              <a:t>)</a:t>
            </a:r>
            <a:endParaRPr lang="zh-CN" altLang="en-US" b="0" dirty="0"/>
          </a:p>
        </p:txBody>
      </p:sp>
      <p:grpSp>
        <p:nvGrpSpPr>
          <p:cNvPr id="12" name="组合 11"/>
          <p:cNvGrpSpPr/>
          <p:nvPr/>
        </p:nvGrpSpPr>
        <p:grpSpPr>
          <a:xfrm>
            <a:off x="1848110" y="1342005"/>
            <a:ext cx="1895374" cy="4738767"/>
            <a:chOff x="2130498" y="1557157"/>
            <a:chExt cx="1895374" cy="4738767"/>
          </a:xfrm>
        </p:grpSpPr>
        <p:grpSp>
          <p:nvGrpSpPr>
            <p:cNvPr id="3" name="组合 2"/>
            <p:cNvGrpSpPr>
              <a:grpSpLocks noChangeAspect="1"/>
            </p:cNvGrpSpPr>
            <p:nvPr/>
          </p:nvGrpSpPr>
          <p:grpSpPr>
            <a:xfrm rot="2700000">
              <a:off x="708801" y="2978854"/>
              <a:ext cx="4738767" cy="1895374"/>
              <a:chOff x="1043608" y="2564904"/>
              <a:chExt cx="5297712" cy="2118937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2632996" y="2564904"/>
                <a:ext cx="2118937" cy="2118937"/>
              </a:xfrm>
              <a:prstGeom prst="rect">
                <a:avLst/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cxnSp>
            <p:nvCxnSpPr>
              <p:cNvPr id="5" name="直接连接符 4"/>
              <p:cNvCxnSpPr/>
              <p:nvPr/>
            </p:nvCxnSpPr>
            <p:spPr>
              <a:xfrm>
                <a:off x="1043608" y="4683841"/>
                <a:ext cx="5297712" cy="0"/>
              </a:xfrm>
              <a:prstGeom prst="line">
                <a:avLst/>
              </a:prstGeom>
              <a:ln w="25400">
                <a:gradFill>
                  <a:gsLst>
                    <a:gs pos="0">
                      <a:schemeClr val="accent5">
                        <a:alpha val="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alpha val="0"/>
                      </a:schemeClr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矩形 8"/>
            <p:cNvSpPr/>
            <p:nvPr/>
          </p:nvSpPr>
          <p:spPr>
            <a:xfrm>
              <a:off x="2164999" y="3530169"/>
              <a:ext cx="1826371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3200" b="1" dirty="0" smtClean="0">
                  <a:solidFill>
                    <a:prstClr val="black"/>
                  </a:solidFill>
                </a:rPr>
                <a:t>Simple</a:t>
              </a:r>
            </a:p>
            <a:p>
              <a:pPr algn="ctr"/>
              <a:r>
                <a:rPr lang="zh-CN" altLang="en-US" sz="2400" dirty="0"/>
                <a:t>简单</a:t>
              </a:r>
              <a:endParaRPr lang="zh-CN" altLang="en-US" sz="2400" dirty="0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5423710" y="1342005"/>
            <a:ext cx="1987757" cy="4738767"/>
            <a:chOff x="5071938" y="1557157"/>
            <a:chExt cx="1987757" cy="4738767"/>
          </a:xfrm>
        </p:grpSpPr>
        <p:grpSp>
          <p:nvGrpSpPr>
            <p:cNvPr id="6" name="组合 5"/>
            <p:cNvGrpSpPr>
              <a:grpSpLocks noChangeAspect="1"/>
            </p:cNvGrpSpPr>
            <p:nvPr/>
          </p:nvGrpSpPr>
          <p:grpSpPr>
            <a:xfrm rot="13500000" flipH="1">
              <a:off x="3696433" y="2978854"/>
              <a:ext cx="4738767" cy="1895374"/>
              <a:chOff x="1043608" y="2564904"/>
              <a:chExt cx="5297712" cy="2118937"/>
            </a:xfrm>
          </p:grpSpPr>
          <p:sp>
            <p:nvSpPr>
              <p:cNvPr id="7" name="矩形 6"/>
              <p:cNvSpPr/>
              <p:nvPr/>
            </p:nvSpPr>
            <p:spPr>
              <a:xfrm>
                <a:off x="2632996" y="2564904"/>
                <a:ext cx="2118937" cy="2118937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accent2"/>
                  </a:solidFill>
                </a:endParaRPr>
              </a:p>
            </p:txBody>
          </p:sp>
          <p:cxnSp>
            <p:nvCxnSpPr>
              <p:cNvPr id="8" name="直接连接符 7"/>
              <p:cNvCxnSpPr/>
              <p:nvPr/>
            </p:nvCxnSpPr>
            <p:spPr>
              <a:xfrm>
                <a:off x="1043608" y="4683841"/>
                <a:ext cx="5297712" cy="0"/>
              </a:xfrm>
              <a:prstGeom prst="line">
                <a:avLst/>
              </a:prstGeom>
              <a:ln w="25400">
                <a:gradFill>
                  <a:gsLst>
                    <a:gs pos="0">
                      <a:schemeClr val="accent5">
                        <a:alpha val="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alpha val="0"/>
                      </a:schemeClr>
                    </a:gs>
                  </a:gsLst>
                  <a:lin ang="0" scaled="0"/>
                </a:gra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5071938" y="3530169"/>
              <a:ext cx="1987757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3200" b="1" dirty="0" smtClean="0">
                  <a:solidFill>
                    <a:prstClr val="white"/>
                  </a:solidFill>
                </a:rPr>
                <a:t>Effective</a:t>
              </a:r>
            </a:p>
            <a:p>
              <a:pPr algn="ctr"/>
              <a:r>
                <a:rPr lang="zh-CN" altLang="en-US" sz="2400" dirty="0">
                  <a:solidFill>
                    <a:prstClr val="white"/>
                  </a:solidFill>
                </a:rPr>
                <a:t>有效</a:t>
              </a:r>
              <a:endParaRPr lang="zh-CN" altLang="en-US" sz="2400" dirty="0">
                <a:solidFill>
                  <a:prstClr val="white"/>
                </a:solidFill>
              </a:endParaRPr>
            </a:p>
          </p:txBody>
        </p:sp>
      </p:grpSp>
      <p:sp>
        <p:nvSpPr>
          <p:cNvPr id="14" name="矩形 13"/>
          <p:cNvSpPr/>
          <p:nvPr/>
        </p:nvSpPr>
        <p:spPr>
          <a:xfrm>
            <a:off x="647564" y="6065248"/>
            <a:ext cx="784887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200" dirty="0" smtClean="0">
                <a:latin typeface="+mn-ea"/>
              </a:rPr>
              <a:t>总结提出的方案，不仅简单，而且有效。</a:t>
            </a:r>
            <a:endParaRPr lang="zh-CN" altLang="en-US" sz="2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85871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五边形 1"/>
          <p:cNvSpPr>
            <a:spLocks noChangeAspect="1"/>
          </p:cNvSpPr>
          <p:nvPr/>
        </p:nvSpPr>
        <p:spPr>
          <a:xfrm>
            <a:off x="3097800" y="2025000"/>
            <a:ext cx="2948400" cy="2808000"/>
          </a:xfrm>
          <a:prstGeom prst="pent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244603" y="2974665"/>
            <a:ext cx="265479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dirty="0" smtClean="0">
                <a:solidFill>
                  <a:schemeClr val="bg1"/>
                </a:solidFill>
              </a:rPr>
              <a:t>研究</a:t>
            </a:r>
            <a:endParaRPr lang="en-US" altLang="zh-CN" sz="4400" dirty="0" smtClean="0">
              <a:solidFill>
                <a:schemeClr val="bg1"/>
              </a:solidFill>
            </a:endParaRPr>
          </a:p>
          <a:p>
            <a:pPr algn="ctr"/>
            <a:r>
              <a:rPr lang="zh-CN" altLang="en-US" sz="4400" dirty="0">
                <a:solidFill>
                  <a:schemeClr val="bg1"/>
                </a:solidFill>
              </a:rPr>
              <a:t>成果</a:t>
            </a:r>
          </a:p>
        </p:txBody>
      </p:sp>
    </p:spTree>
    <p:extLst>
      <p:ext uri="{BB962C8B-B14F-4D97-AF65-F5344CB8AC3E}">
        <p14:creationId xmlns:p14="http://schemas.microsoft.com/office/powerpoint/2010/main" val="14896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Result</a:t>
            </a:r>
            <a:r>
              <a:rPr lang="en-US" altLang="zh-CN" sz="1400" dirty="0" smtClean="0"/>
              <a:t> </a:t>
            </a:r>
            <a:r>
              <a:rPr lang="en-US" altLang="zh-CN" sz="2800" b="0" dirty="0" smtClean="0"/>
              <a:t>(</a:t>
            </a:r>
            <a:r>
              <a:rPr lang="zh-CN" altLang="en-US" sz="2800" b="0" dirty="0" smtClean="0"/>
              <a:t>成果</a:t>
            </a:r>
            <a:r>
              <a:rPr lang="en-US" altLang="zh-CN" sz="2800" b="0" dirty="0" smtClean="0"/>
              <a:t>)</a:t>
            </a:r>
            <a:endParaRPr lang="zh-CN" altLang="en-US" b="0" dirty="0"/>
          </a:p>
        </p:txBody>
      </p:sp>
      <p:sp>
        <p:nvSpPr>
          <p:cNvPr id="3" name="正五边形 2"/>
          <p:cNvSpPr>
            <a:spLocks noChangeAspect="1"/>
          </p:cNvSpPr>
          <p:nvPr/>
        </p:nvSpPr>
        <p:spPr>
          <a:xfrm>
            <a:off x="1051285" y="2154559"/>
            <a:ext cx="720000" cy="685714"/>
          </a:xfrm>
          <a:prstGeom prst="pent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/>
              <a:t>1</a:t>
            </a:r>
            <a:endParaRPr lang="zh-CN" altLang="en-US" sz="2800" dirty="0"/>
          </a:p>
        </p:txBody>
      </p:sp>
      <p:sp>
        <p:nvSpPr>
          <p:cNvPr id="4" name="正五边形 3"/>
          <p:cNvSpPr>
            <a:spLocks noChangeAspect="1"/>
          </p:cNvSpPr>
          <p:nvPr/>
        </p:nvSpPr>
        <p:spPr>
          <a:xfrm>
            <a:off x="1051285" y="4201074"/>
            <a:ext cx="720000" cy="685714"/>
          </a:xfrm>
          <a:prstGeom prst="pentagon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>
                <a:solidFill>
                  <a:schemeClr val="accent2"/>
                </a:solidFill>
              </a:rPr>
              <a:t>2</a:t>
            </a:r>
            <a:endParaRPr lang="zh-CN" altLang="en-US" sz="2800" dirty="0">
              <a:solidFill>
                <a:schemeClr val="accent2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2113507" y="2306038"/>
            <a:ext cx="31116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800" dirty="0" smtClean="0">
                <a:solidFill>
                  <a:schemeClr val="accent2"/>
                </a:solidFill>
                <a:latin typeface="+mn-ea"/>
              </a:rPr>
              <a:t>一句话总结成果</a:t>
            </a:r>
            <a:endParaRPr lang="zh-CN" altLang="en-US" sz="2800" dirty="0">
              <a:solidFill>
                <a:schemeClr val="accent2"/>
              </a:solidFill>
              <a:latin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113507" y="4352553"/>
            <a:ext cx="311163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800" dirty="0" smtClean="0">
                <a:solidFill>
                  <a:schemeClr val="accent2"/>
                </a:solidFill>
                <a:latin typeface="+mn-ea"/>
              </a:rPr>
              <a:t>一句话总结成果</a:t>
            </a:r>
            <a:endParaRPr lang="zh-CN" altLang="en-US" sz="2800" dirty="0">
              <a:solidFill>
                <a:schemeClr val="accent2"/>
              </a:solidFill>
              <a:latin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113507" y="2829258"/>
            <a:ext cx="592740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000" dirty="0" smtClean="0">
                <a:latin typeface="+mn-ea"/>
              </a:rPr>
              <a:t>在这里填写研究成果，</a:t>
            </a:r>
            <a:r>
              <a:rPr lang="zh-CN" altLang="en-US" sz="2000" dirty="0" smtClean="0">
                <a:latin typeface="+mn-ea"/>
              </a:rPr>
              <a:t>在这里填写研究成果，在这里填写研究成果</a:t>
            </a:r>
            <a:r>
              <a:rPr lang="zh-CN" altLang="en-US" sz="2000" dirty="0" smtClean="0">
                <a:latin typeface="+mn-ea"/>
              </a:rPr>
              <a:t>，</a:t>
            </a:r>
            <a:r>
              <a:rPr lang="zh-CN" altLang="en-US" sz="2000" dirty="0" smtClean="0">
                <a:latin typeface="+mn-ea"/>
              </a:rPr>
              <a:t>在这里填写研究成果</a:t>
            </a:r>
            <a:r>
              <a:rPr lang="zh-CN" altLang="en-US" sz="2000" dirty="0" smtClean="0">
                <a:latin typeface="+mn-ea"/>
              </a:rPr>
              <a:t>，</a:t>
            </a:r>
            <a:r>
              <a:rPr lang="zh-CN" altLang="en-US" sz="2000" dirty="0" smtClean="0">
                <a:latin typeface="+mn-ea"/>
              </a:rPr>
              <a:t>在这里填写研究成果</a:t>
            </a:r>
            <a:r>
              <a:rPr lang="zh-CN" altLang="en-US" sz="2000" dirty="0">
                <a:latin typeface="+mn-ea"/>
              </a:rPr>
              <a:t>。</a:t>
            </a:r>
            <a:endParaRPr lang="zh-CN" altLang="en-US" sz="2000" dirty="0" smtClean="0">
              <a:latin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113507" y="4875814"/>
            <a:ext cx="592740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000" dirty="0" smtClean="0">
                <a:latin typeface="+mn-ea"/>
              </a:rPr>
              <a:t>在这里填写研究成果，</a:t>
            </a:r>
            <a:r>
              <a:rPr lang="zh-CN" altLang="en-US" sz="2000" dirty="0" smtClean="0">
                <a:latin typeface="+mn-ea"/>
              </a:rPr>
              <a:t>在这里填写研究成果，在这里填写研究成果</a:t>
            </a:r>
            <a:r>
              <a:rPr lang="zh-CN" altLang="en-US" sz="2000" dirty="0" smtClean="0">
                <a:latin typeface="+mn-ea"/>
              </a:rPr>
              <a:t>，</a:t>
            </a:r>
            <a:r>
              <a:rPr lang="zh-CN" altLang="en-US" sz="2000" dirty="0" smtClean="0">
                <a:latin typeface="+mn-ea"/>
              </a:rPr>
              <a:t>在这里填写研究成果，在这里填写研究成果</a:t>
            </a:r>
            <a:r>
              <a:rPr lang="zh-CN" altLang="en-US" sz="2000" dirty="0">
                <a:latin typeface="+mn-ea"/>
              </a:rPr>
              <a:t>。</a:t>
            </a:r>
            <a:endParaRPr lang="zh-CN" altLang="en-US" sz="2000" dirty="0" smtClean="0">
              <a:latin typeface="+mn-ea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142145" y="4038826"/>
            <a:ext cx="5940152" cy="0"/>
          </a:xfrm>
          <a:prstGeom prst="line">
            <a:avLst/>
          </a:prstGeom>
          <a:ln w="15875">
            <a:gradFill>
              <a:gsLst>
                <a:gs pos="1300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16200000">
            <a:off x="-397915" y="3691156"/>
            <a:ext cx="2088232" cy="0"/>
          </a:xfrm>
          <a:prstGeom prst="line">
            <a:avLst/>
          </a:prstGeom>
          <a:ln w="15875">
            <a:gradFill>
              <a:gsLst>
                <a:gs pos="13000">
                  <a:schemeClr val="accent5"/>
                </a:gs>
                <a:gs pos="100000">
                  <a:schemeClr val="accent5">
                    <a:alpha val="0"/>
                  </a:schemeClr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7949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Result</a:t>
            </a:r>
            <a:r>
              <a:rPr lang="en-US" altLang="zh-CN" sz="1400" dirty="0" smtClean="0"/>
              <a:t> </a:t>
            </a:r>
            <a:r>
              <a:rPr lang="en-US" altLang="zh-CN" sz="2800" b="0" dirty="0" smtClean="0"/>
              <a:t>(</a:t>
            </a:r>
            <a:r>
              <a:rPr lang="zh-CN" altLang="en-US" sz="2800" b="0" dirty="0" smtClean="0"/>
              <a:t>成果</a:t>
            </a:r>
            <a:r>
              <a:rPr lang="en-US" altLang="zh-CN" sz="2800" b="0" dirty="0" smtClean="0"/>
              <a:t>)</a:t>
            </a:r>
            <a:endParaRPr lang="zh-CN" altLang="en-US" b="0" dirty="0"/>
          </a:p>
        </p:txBody>
      </p:sp>
      <p:graphicFrame>
        <p:nvGraphicFramePr>
          <p:cNvPr id="7" name="图表 6"/>
          <p:cNvGraphicFramePr/>
          <p:nvPr>
            <p:extLst>
              <p:ext uri="{D42A27DB-BD31-4B8C-83A1-F6EECF244321}">
                <p14:modId xmlns:p14="http://schemas.microsoft.com/office/powerpoint/2010/main" val="73933533"/>
              </p:ext>
            </p:extLst>
          </p:nvPr>
        </p:nvGraphicFramePr>
        <p:xfrm>
          <a:off x="1465942" y="1800000"/>
          <a:ext cx="6096000" cy="3855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矩形 7"/>
          <p:cNvSpPr/>
          <p:nvPr/>
        </p:nvSpPr>
        <p:spPr>
          <a:xfrm>
            <a:off x="2233314" y="5723061"/>
            <a:ext cx="46773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accent2"/>
                </a:solidFill>
                <a:cs typeface="Microsoft New Tai Lue" panose="020B0502040204020203" pitchFamily="34" charset="0"/>
              </a:rPr>
              <a:t>用一张图表来说明</a:t>
            </a:r>
            <a:r>
              <a:rPr lang="zh-CN" altLang="en-US" sz="2000" dirty="0" smtClean="0">
                <a:solidFill>
                  <a:schemeClr val="accent2"/>
                </a:solidFill>
                <a:cs typeface="Microsoft New Tai Lue" panose="020B0502040204020203" pitchFamily="34" charset="0"/>
              </a:rPr>
              <a:t>研究成果</a:t>
            </a:r>
            <a:endParaRPr lang="zh-CN" altLang="en-US" sz="2000" dirty="0">
              <a:solidFill>
                <a:schemeClr val="accent2"/>
              </a:solidFill>
              <a:cs typeface="Microsoft New Tai Lue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0731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Result</a:t>
            </a:r>
            <a:r>
              <a:rPr lang="en-US" altLang="zh-CN" sz="1400" dirty="0" smtClean="0"/>
              <a:t> </a:t>
            </a:r>
            <a:r>
              <a:rPr lang="en-US" altLang="zh-CN" sz="2800" b="0" dirty="0" smtClean="0"/>
              <a:t>(</a:t>
            </a:r>
            <a:r>
              <a:rPr lang="zh-CN" altLang="en-US" sz="2800" b="0" dirty="0" smtClean="0"/>
              <a:t>成果</a:t>
            </a:r>
            <a:r>
              <a:rPr lang="en-US" altLang="zh-CN" sz="2800" b="0" dirty="0" smtClean="0"/>
              <a:t>)</a:t>
            </a:r>
            <a:endParaRPr lang="zh-CN" altLang="en-US" b="0" dirty="0"/>
          </a:p>
        </p:txBody>
      </p:sp>
      <p:sp>
        <p:nvSpPr>
          <p:cNvPr id="4" name="矩形 3"/>
          <p:cNvSpPr/>
          <p:nvPr/>
        </p:nvSpPr>
        <p:spPr>
          <a:xfrm>
            <a:off x="1188000" y="1403829"/>
            <a:ext cx="6768000" cy="45288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233314" y="6057418"/>
            <a:ext cx="46773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 smtClean="0">
                <a:solidFill>
                  <a:schemeClr val="accent2"/>
                </a:solidFill>
                <a:cs typeface="Microsoft New Tai Lue" panose="020B0502040204020203" pitchFamily="34" charset="0"/>
              </a:rPr>
              <a:t>用一张图片来说明</a:t>
            </a:r>
            <a:r>
              <a:rPr lang="zh-CN" altLang="en-US" sz="2000" dirty="0" smtClean="0">
                <a:solidFill>
                  <a:schemeClr val="accent2"/>
                </a:solidFill>
                <a:cs typeface="Microsoft New Tai Lue" panose="020B0502040204020203" pitchFamily="34" charset="0"/>
              </a:rPr>
              <a:t>研究成果</a:t>
            </a:r>
            <a:endParaRPr lang="zh-CN" altLang="en-US" sz="2000" dirty="0">
              <a:solidFill>
                <a:schemeClr val="accent2"/>
              </a:solidFill>
              <a:cs typeface="Microsoft New Tai Lue" panose="020B0502040204020203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504" y="1475829"/>
            <a:ext cx="6602992" cy="438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621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六边形 5"/>
          <p:cNvSpPr>
            <a:spLocks noChangeAspect="1"/>
          </p:cNvSpPr>
          <p:nvPr/>
        </p:nvSpPr>
        <p:spPr>
          <a:xfrm rot="5400000">
            <a:off x="2970000" y="2047965"/>
            <a:ext cx="3204000" cy="2762070"/>
          </a:xfrm>
          <a:prstGeom prst="hexagon">
            <a:avLst>
              <a:gd name="adj" fmla="val 30669"/>
              <a:gd name="vf" fmla="val 115470"/>
            </a:avLst>
          </a:prstGeom>
          <a:solidFill>
            <a:schemeClr val="accent2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244603" y="2705725"/>
            <a:ext cx="265479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dirty="0" smtClean="0">
                <a:solidFill>
                  <a:schemeClr val="bg1"/>
                </a:solidFill>
              </a:rPr>
              <a:t>研究</a:t>
            </a:r>
            <a:endParaRPr lang="en-US" altLang="zh-CN" sz="4400" dirty="0" smtClean="0">
              <a:solidFill>
                <a:schemeClr val="bg1"/>
              </a:solidFill>
            </a:endParaRPr>
          </a:p>
          <a:p>
            <a:pPr algn="ctr"/>
            <a:r>
              <a:rPr lang="zh-CN" altLang="en-US" sz="4400" dirty="0">
                <a:solidFill>
                  <a:schemeClr val="bg1"/>
                </a:solidFill>
              </a:rPr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2270678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Summary</a:t>
            </a:r>
            <a:r>
              <a:rPr lang="en-US" altLang="zh-CN" sz="1400" dirty="0" smtClean="0"/>
              <a:t> </a:t>
            </a:r>
            <a:r>
              <a:rPr lang="en-US" altLang="zh-CN" sz="2800" b="0" dirty="0" smtClean="0"/>
              <a:t>(</a:t>
            </a:r>
            <a:r>
              <a:rPr lang="zh-CN" altLang="en-US" sz="2800" b="0" dirty="0"/>
              <a:t>总结</a:t>
            </a:r>
            <a:r>
              <a:rPr lang="en-US" altLang="zh-CN" sz="2800" b="0" dirty="0" smtClean="0"/>
              <a:t>)</a:t>
            </a:r>
            <a:endParaRPr lang="zh-CN" altLang="en-US" b="0" dirty="0"/>
          </a:p>
        </p:txBody>
      </p:sp>
      <p:sp>
        <p:nvSpPr>
          <p:cNvPr id="32" name="任意多边形 31"/>
          <p:cNvSpPr>
            <a:spLocks noChangeAspect="1"/>
          </p:cNvSpPr>
          <p:nvPr/>
        </p:nvSpPr>
        <p:spPr>
          <a:xfrm rot="5400000">
            <a:off x="1813226" y="2263492"/>
            <a:ext cx="1067699" cy="920433"/>
          </a:xfrm>
          <a:custGeom>
            <a:avLst/>
            <a:gdLst>
              <a:gd name="connsiteX0" fmla="*/ 0 w 1067699"/>
              <a:gd name="connsiteY0" fmla="*/ 920432 h 920433"/>
              <a:gd name="connsiteX1" fmla="*/ 564574 w 1067699"/>
              <a:gd name="connsiteY1" fmla="*/ 0 h 920433"/>
              <a:gd name="connsiteX2" fmla="*/ 1067699 w 1067699"/>
              <a:gd name="connsiteY2" fmla="*/ 0 h 920433"/>
              <a:gd name="connsiteX3" fmla="*/ 1067699 w 1067699"/>
              <a:gd name="connsiteY3" fmla="*/ 920433 h 920433"/>
              <a:gd name="connsiteX4" fmla="*/ 0 w 1067699"/>
              <a:gd name="connsiteY4" fmla="*/ 920433 h 920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67699" h="920433">
                <a:moveTo>
                  <a:pt x="0" y="920432"/>
                </a:moveTo>
                <a:lnTo>
                  <a:pt x="564574" y="0"/>
                </a:lnTo>
                <a:lnTo>
                  <a:pt x="1067699" y="0"/>
                </a:lnTo>
                <a:lnTo>
                  <a:pt x="1067699" y="920433"/>
                </a:lnTo>
                <a:lnTo>
                  <a:pt x="0" y="920433"/>
                </a:lnTo>
                <a:close/>
              </a:path>
            </a:pathLst>
          </a:custGeom>
          <a:solidFill>
            <a:schemeClr val="accent2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6" name="六边形 5"/>
          <p:cNvSpPr>
            <a:spLocks noChangeAspect="1"/>
          </p:cNvSpPr>
          <p:nvPr/>
        </p:nvSpPr>
        <p:spPr>
          <a:xfrm rot="5400000">
            <a:off x="1007962" y="2499887"/>
            <a:ext cx="1757795" cy="1515341"/>
          </a:xfrm>
          <a:prstGeom prst="hexagon">
            <a:avLst>
              <a:gd name="adj" fmla="val 30669"/>
              <a:gd name="vf" fmla="val 115470"/>
            </a:avLst>
          </a:prstGeom>
          <a:solidFill>
            <a:schemeClr val="bg1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3" name="任意多边形 32"/>
          <p:cNvSpPr>
            <a:spLocks noChangeAspect="1"/>
          </p:cNvSpPr>
          <p:nvPr/>
        </p:nvSpPr>
        <p:spPr>
          <a:xfrm rot="5400000">
            <a:off x="3964517" y="2797341"/>
            <a:ext cx="2135400" cy="920435"/>
          </a:xfrm>
          <a:custGeom>
            <a:avLst/>
            <a:gdLst>
              <a:gd name="connsiteX0" fmla="*/ 0 w 2135400"/>
              <a:gd name="connsiteY0" fmla="*/ 920432 h 920435"/>
              <a:gd name="connsiteX1" fmla="*/ 564574 w 2135400"/>
              <a:gd name="connsiteY1" fmla="*/ 0 h 920435"/>
              <a:gd name="connsiteX2" fmla="*/ 1570826 w 2135400"/>
              <a:gd name="connsiteY2" fmla="*/ 0 h 920435"/>
              <a:gd name="connsiteX3" fmla="*/ 2135400 w 2135400"/>
              <a:gd name="connsiteY3" fmla="*/ 920432 h 920435"/>
              <a:gd name="connsiteX4" fmla="*/ 2135399 w 2135400"/>
              <a:gd name="connsiteY4" fmla="*/ 920435 h 920435"/>
              <a:gd name="connsiteX5" fmla="*/ 1067699 w 2135400"/>
              <a:gd name="connsiteY5" fmla="*/ 920435 h 920435"/>
              <a:gd name="connsiteX6" fmla="*/ 2 w 2135400"/>
              <a:gd name="connsiteY6" fmla="*/ 920435 h 9204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35400" h="920435">
                <a:moveTo>
                  <a:pt x="0" y="920432"/>
                </a:moveTo>
                <a:lnTo>
                  <a:pt x="564574" y="0"/>
                </a:lnTo>
                <a:lnTo>
                  <a:pt x="1570826" y="0"/>
                </a:lnTo>
                <a:lnTo>
                  <a:pt x="2135400" y="920432"/>
                </a:lnTo>
                <a:lnTo>
                  <a:pt x="2135399" y="920435"/>
                </a:lnTo>
                <a:lnTo>
                  <a:pt x="1067699" y="920435"/>
                </a:lnTo>
                <a:lnTo>
                  <a:pt x="2" y="920435"/>
                </a:lnTo>
                <a:close/>
              </a:path>
            </a:pathLst>
          </a:custGeom>
          <a:solidFill>
            <a:schemeClr val="accent2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8" name="六边形 7"/>
          <p:cNvSpPr>
            <a:spLocks noChangeAspect="1"/>
          </p:cNvSpPr>
          <p:nvPr/>
        </p:nvSpPr>
        <p:spPr>
          <a:xfrm rot="5400000">
            <a:off x="3693105" y="2499887"/>
            <a:ext cx="1757795" cy="1515341"/>
          </a:xfrm>
          <a:prstGeom prst="hexagon">
            <a:avLst>
              <a:gd name="adj" fmla="val 30669"/>
              <a:gd name="vf" fmla="val 115470"/>
            </a:avLst>
          </a:prstGeom>
          <a:solidFill>
            <a:schemeClr val="bg1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4" name="任意多边形 33"/>
          <p:cNvSpPr>
            <a:spLocks noChangeAspect="1"/>
          </p:cNvSpPr>
          <p:nvPr/>
        </p:nvSpPr>
        <p:spPr>
          <a:xfrm rot="5400000">
            <a:off x="6189445" y="2337127"/>
            <a:ext cx="2135400" cy="1840863"/>
          </a:xfrm>
          <a:custGeom>
            <a:avLst/>
            <a:gdLst>
              <a:gd name="connsiteX0" fmla="*/ 0 w 2135400"/>
              <a:gd name="connsiteY0" fmla="*/ 920432 h 1840863"/>
              <a:gd name="connsiteX1" fmla="*/ 564574 w 2135400"/>
              <a:gd name="connsiteY1" fmla="*/ 0 h 1840863"/>
              <a:gd name="connsiteX2" fmla="*/ 1570826 w 2135400"/>
              <a:gd name="connsiteY2" fmla="*/ 0 h 1840863"/>
              <a:gd name="connsiteX3" fmla="*/ 2135400 w 2135400"/>
              <a:gd name="connsiteY3" fmla="*/ 920432 h 1840863"/>
              <a:gd name="connsiteX4" fmla="*/ 1570826 w 2135400"/>
              <a:gd name="connsiteY4" fmla="*/ 1840863 h 1840863"/>
              <a:gd name="connsiteX5" fmla="*/ 1067699 w 2135400"/>
              <a:gd name="connsiteY5" fmla="*/ 1840863 h 1840863"/>
              <a:gd name="connsiteX6" fmla="*/ 1067699 w 2135400"/>
              <a:gd name="connsiteY6" fmla="*/ 920434 h 1840863"/>
              <a:gd name="connsiteX7" fmla="*/ 1 w 2135400"/>
              <a:gd name="connsiteY7" fmla="*/ 920434 h 1840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35400" h="1840863">
                <a:moveTo>
                  <a:pt x="0" y="920432"/>
                </a:moveTo>
                <a:lnTo>
                  <a:pt x="564574" y="0"/>
                </a:lnTo>
                <a:lnTo>
                  <a:pt x="1570826" y="0"/>
                </a:lnTo>
                <a:lnTo>
                  <a:pt x="2135400" y="920432"/>
                </a:lnTo>
                <a:lnTo>
                  <a:pt x="1570826" y="1840863"/>
                </a:lnTo>
                <a:lnTo>
                  <a:pt x="1067699" y="1840863"/>
                </a:lnTo>
                <a:lnTo>
                  <a:pt x="1067699" y="920434"/>
                </a:lnTo>
                <a:lnTo>
                  <a:pt x="1" y="920434"/>
                </a:lnTo>
                <a:close/>
              </a:path>
            </a:pathLst>
          </a:custGeom>
          <a:solidFill>
            <a:schemeClr val="accent2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0" name="六边形 9"/>
          <p:cNvSpPr>
            <a:spLocks noChangeAspect="1"/>
          </p:cNvSpPr>
          <p:nvPr/>
        </p:nvSpPr>
        <p:spPr>
          <a:xfrm rot="5400000">
            <a:off x="6378247" y="2499887"/>
            <a:ext cx="1757795" cy="1515341"/>
          </a:xfrm>
          <a:prstGeom prst="hexagon">
            <a:avLst>
              <a:gd name="adj" fmla="val 30669"/>
              <a:gd name="vf" fmla="val 115470"/>
            </a:avLst>
          </a:prstGeom>
          <a:solidFill>
            <a:schemeClr val="bg1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407887" y="2795892"/>
            <a:ext cx="9579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accent2"/>
                </a:solidFill>
              </a:rPr>
              <a:t>快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4093030" y="2795892"/>
            <a:ext cx="9579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chemeClr val="accent2"/>
                </a:solidFill>
              </a:rPr>
              <a:t>准</a:t>
            </a:r>
            <a:endParaRPr lang="zh-CN" altLang="en-US" sz="5400" b="1" dirty="0">
              <a:solidFill>
                <a:schemeClr val="accent2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6778172" y="2795892"/>
            <a:ext cx="9579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accent2"/>
                </a:solidFill>
              </a:rPr>
              <a:t>少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953375" y="4553687"/>
            <a:ext cx="186696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latin typeface="+mn-ea"/>
              </a:rPr>
              <a:t>算法运行时间为原有算法的</a:t>
            </a:r>
            <a:r>
              <a:rPr lang="en-US" altLang="zh-CN" sz="3600" dirty="0" smtClean="0">
                <a:solidFill>
                  <a:schemeClr val="accent2"/>
                </a:solidFill>
                <a:latin typeface="+mn-ea"/>
              </a:rPr>
              <a:t>25</a:t>
            </a:r>
            <a:r>
              <a:rPr lang="en-US" altLang="zh-CN" sz="2000" dirty="0" smtClean="0">
                <a:latin typeface="+mn-ea"/>
              </a:rPr>
              <a:t>%</a:t>
            </a:r>
            <a:endParaRPr lang="zh-CN" altLang="en-US" sz="2000" dirty="0">
              <a:latin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638518" y="4553687"/>
            <a:ext cx="186696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latin typeface="+mn-ea"/>
              </a:rPr>
              <a:t>计算结果精度比原有算法高</a:t>
            </a:r>
            <a:r>
              <a:rPr lang="en-US" altLang="zh-CN" sz="3600" dirty="0" smtClean="0">
                <a:solidFill>
                  <a:schemeClr val="accent2"/>
                </a:solidFill>
                <a:latin typeface="+mn-ea"/>
              </a:rPr>
              <a:t>50</a:t>
            </a:r>
            <a:r>
              <a:rPr lang="en-US" altLang="zh-CN" sz="2000" dirty="0" smtClean="0">
                <a:latin typeface="+mn-ea"/>
              </a:rPr>
              <a:t>%</a:t>
            </a:r>
            <a:endParaRPr lang="zh-CN" altLang="en-US" sz="2000" dirty="0">
              <a:latin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323661" y="4553687"/>
            <a:ext cx="186696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 smtClean="0">
                <a:latin typeface="+mn-ea"/>
              </a:rPr>
              <a:t>空间存储容量为原有算法的</a:t>
            </a:r>
            <a:r>
              <a:rPr lang="en-US" altLang="zh-CN" sz="3600" dirty="0" smtClean="0">
                <a:solidFill>
                  <a:schemeClr val="accent2"/>
                </a:solidFill>
                <a:latin typeface="+mn-ea"/>
              </a:rPr>
              <a:t>75</a:t>
            </a:r>
            <a:r>
              <a:rPr lang="en-US" altLang="zh-CN" sz="2000" dirty="0" smtClean="0">
                <a:latin typeface="+mn-ea"/>
              </a:rPr>
              <a:t>%</a:t>
            </a:r>
            <a:endParaRPr lang="zh-CN" altLang="en-US" sz="2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19501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Summary</a:t>
            </a:r>
            <a:r>
              <a:rPr lang="en-US" altLang="zh-CN" sz="1400" dirty="0" smtClean="0"/>
              <a:t> </a:t>
            </a:r>
            <a:r>
              <a:rPr lang="en-US" altLang="zh-CN" sz="2800" b="0" dirty="0" smtClean="0"/>
              <a:t>(</a:t>
            </a:r>
            <a:r>
              <a:rPr lang="zh-CN" altLang="en-US" sz="2800" b="0" dirty="0"/>
              <a:t>总结</a:t>
            </a:r>
            <a:r>
              <a:rPr lang="en-US" altLang="zh-CN" sz="2800" b="0" dirty="0" smtClean="0"/>
              <a:t>)</a:t>
            </a:r>
            <a:endParaRPr lang="zh-CN" altLang="en-US" b="0" dirty="0"/>
          </a:p>
        </p:txBody>
      </p:sp>
      <p:sp>
        <p:nvSpPr>
          <p:cNvPr id="3" name="矩形 2"/>
          <p:cNvSpPr/>
          <p:nvPr/>
        </p:nvSpPr>
        <p:spPr>
          <a:xfrm>
            <a:off x="2646068" y="1841582"/>
            <a:ext cx="38518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800" dirty="0" smtClean="0">
                <a:solidFill>
                  <a:schemeClr val="accent2"/>
                </a:solidFill>
                <a:latin typeface="+mn-ea"/>
              </a:rPr>
              <a:t>得到优秀的结果的原因</a:t>
            </a:r>
            <a:endParaRPr lang="zh-CN" altLang="en-US" sz="2800" dirty="0">
              <a:solidFill>
                <a:schemeClr val="accent2"/>
              </a:solidFill>
              <a:latin typeface="+mn-ea"/>
            </a:endParaRPr>
          </a:p>
        </p:txBody>
      </p:sp>
      <p:sp>
        <p:nvSpPr>
          <p:cNvPr id="5" name="六边形 4"/>
          <p:cNvSpPr>
            <a:spLocks noChangeAspect="1"/>
          </p:cNvSpPr>
          <p:nvPr/>
        </p:nvSpPr>
        <p:spPr>
          <a:xfrm rot="5400000">
            <a:off x="902710" y="2587852"/>
            <a:ext cx="720000" cy="620690"/>
          </a:xfrm>
          <a:prstGeom prst="hexagon">
            <a:avLst>
              <a:gd name="adj" fmla="val 30669"/>
              <a:gd name="vf" fmla="val 115470"/>
            </a:avLst>
          </a:prstGeom>
          <a:solidFill>
            <a:schemeClr val="accent2"/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800" dirty="0" smtClean="0">
                <a:solidFill>
                  <a:prstClr val="white"/>
                </a:solidFill>
              </a:rPr>
              <a:t>1</a:t>
            </a:r>
            <a:endParaRPr lang="zh-CN" altLang="en-US" sz="2800" dirty="0">
              <a:solidFill>
                <a:prstClr val="white"/>
              </a:solidFill>
            </a:endParaRPr>
          </a:p>
        </p:txBody>
      </p:sp>
      <p:sp>
        <p:nvSpPr>
          <p:cNvPr id="6" name="六边形 5"/>
          <p:cNvSpPr>
            <a:spLocks noChangeAspect="1"/>
          </p:cNvSpPr>
          <p:nvPr/>
        </p:nvSpPr>
        <p:spPr>
          <a:xfrm rot="5400000">
            <a:off x="902710" y="3700530"/>
            <a:ext cx="720000" cy="620690"/>
          </a:xfrm>
          <a:prstGeom prst="hexagon">
            <a:avLst>
              <a:gd name="adj" fmla="val 30669"/>
              <a:gd name="vf" fmla="val 115470"/>
            </a:avLst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800" dirty="0" smtClean="0">
                <a:solidFill>
                  <a:schemeClr val="accent2"/>
                </a:solidFill>
              </a:rPr>
              <a:t>2</a:t>
            </a:r>
            <a:endParaRPr lang="zh-CN" altLang="en-US" sz="2800" dirty="0">
              <a:solidFill>
                <a:schemeClr val="accent2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660139" y="2833907"/>
            <a:ext cx="664203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000" dirty="0" smtClean="0">
                <a:latin typeface="+mn-ea"/>
              </a:rPr>
              <a:t>在这里填写结果原因，在这里填写结果原因，在这里填写结果原因，在这里填写结果原因。</a:t>
            </a:r>
            <a:endParaRPr lang="zh-CN" altLang="en-US" sz="2000" dirty="0" smtClean="0">
              <a:latin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660138" y="3955613"/>
            <a:ext cx="664203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000" dirty="0" smtClean="0">
                <a:latin typeface="+mn-ea"/>
              </a:rPr>
              <a:t>在这里填写结果原因，在这里填写结果原因，在这里填写结果原因，在这里填写结果原因。</a:t>
            </a:r>
            <a:endParaRPr lang="zh-CN" altLang="en-US" sz="2000" dirty="0" smtClean="0">
              <a:latin typeface="+mn-ea"/>
            </a:endParaRPr>
          </a:p>
        </p:txBody>
      </p:sp>
      <p:sp>
        <p:nvSpPr>
          <p:cNvPr id="9" name="六边形 8"/>
          <p:cNvSpPr>
            <a:spLocks noChangeAspect="1"/>
          </p:cNvSpPr>
          <p:nvPr/>
        </p:nvSpPr>
        <p:spPr>
          <a:xfrm rot="5400000">
            <a:off x="902710" y="4813208"/>
            <a:ext cx="720000" cy="620690"/>
          </a:xfrm>
          <a:prstGeom prst="hexagon">
            <a:avLst>
              <a:gd name="adj" fmla="val 30669"/>
              <a:gd name="vf" fmla="val 115470"/>
            </a:avLst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2800" dirty="0" smtClean="0">
                <a:solidFill>
                  <a:schemeClr val="accent2"/>
                </a:solidFill>
              </a:rPr>
              <a:t>3</a:t>
            </a:r>
            <a:endParaRPr lang="zh-CN" altLang="en-US" sz="2800" dirty="0">
              <a:solidFill>
                <a:schemeClr val="accent2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660138" y="5077319"/>
            <a:ext cx="664203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000" dirty="0" smtClean="0">
                <a:latin typeface="+mn-ea"/>
              </a:rPr>
              <a:t>在这里填写结果原因，在这里填写结果原因，在这里填写结果原因，在这里填写结果原因。</a:t>
            </a:r>
            <a:endParaRPr lang="zh-CN" altLang="en-US" sz="2000" dirty="0" smtClean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09808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Acknowledgement</a:t>
            </a:r>
            <a:r>
              <a:rPr lang="en-US" altLang="zh-CN" sz="1400" dirty="0" smtClean="0"/>
              <a:t> </a:t>
            </a:r>
            <a:r>
              <a:rPr lang="en-US" altLang="zh-CN" sz="2800" b="0" dirty="0" smtClean="0"/>
              <a:t>(</a:t>
            </a:r>
            <a:r>
              <a:rPr lang="zh-CN" altLang="en-US" sz="2800" b="0" dirty="0" smtClean="0"/>
              <a:t>致谢</a:t>
            </a:r>
            <a:r>
              <a:rPr lang="en-US" altLang="zh-CN" sz="2800" b="0" dirty="0" smtClean="0"/>
              <a:t>)</a:t>
            </a:r>
            <a:endParaRPr lang="zh-CN" altLang="en-US" b="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661" b="43014"/>
          <a:stretch/>
        </p:blipFill>
        <p:spPr>
          <a:xfrm flipH="1">
            <a:off x="350986" y="1411051"/>
            <a:ext cx="5628526" cy="5446949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4189051" y="2625355"/>
            <a:ext cx="38518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800" dirty="0" smtClean="0">
                <a:solidFill>
                  <a:schemeClr val="accent2"/>
                </a:solidFill>
                <a:latin typeface="+mn-ea"/>
              </a:rPr>
              <a:t>感谢我的指导老师</a:t>
            </a:r>
            <a:r>
              <a:rPr lang="en-US" altLang="zh-CN" sz="2800" dirty="0" smtClean="0">
                <a:solidFill>
                  <a:schemeClr val="accent2"/>
                </a:solidFill>
                <a:latin typeface="+mn-ea"/>
              </a:rPr>
              <a:t>XXX</a:t>
            </a:r>
            <a:endParaRPr lang="zh-CN" altLang="en-US" sz="2800" dirty="0">
              <a:solidFill>
                <a:schemeClr val="accent2"/>
              </a:solidFill>
              <a:latin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89051" y="3148575"/>
            <a:ext cx="433083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000" dirty="0" smtClean="0">
                <a:latin typeface="+mn-ea"/>
              </a:rPr>
              <a:t>在这里填写感谢内容，</a:t>
            </a:r>
            <a:r>
              <a:rPr lang="zh-CN" altLang="en-US" sz="2000" dirty="0" smtClean="0">
                <a:latin typeface="+mn-ea"/>
              </a:rPr>
              <a:t>在这里填写感谢内容，在这里填写感谢内容，在这里填写感谢内容，在这里填写感谢内容，在这里填写感谢内容，在这里填写感谢内容，在这里填写感谢内容，在这里填写感谢内容。</a:t>
            </a:r>
          </a:p>
        </p:txBody>
      </p:sp>
    </p:spTree>
    <p:extLst>
      <p:ext uri="{BB962C8B-B14F-4D97-AF65-F5344CB8AC3E}">
        <p14:creationId xmlns:p14="http://schemas.microsoft.com/office/powerpoint/2010/main" val="23404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2987175" y="3044280"/>
            <a:ext cx="316965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/>
            <a:r>
              <a:rPr lang="en-US" altLang="zh-CN" sz="4400" dirty="0">
                <a:solidFill>
                  <a:schemeClr val="bg1"/>
                </a:solidFill>
                <a:ea typeface="华文细黑" panose="02010600040101010101" pitchFamily="2" charset="-122"/>
              </a:rPr>
              <a:t>Thank you!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1872000" y="1101414"/>
            <a:ext cx="5400000" cy="4655172"/>
            <a:chOff x="1872000" y="1101414"/>
            <a:chExt cx="5400000" cy="4655172"/>
          </a:xfrm>
        </p:grpSpPr>
        <p:sp>
          <p:nvSpPr>
            <p:cNvPr id="6" name="六边形 5"/>
            <p:cNvSpPr/>
            <p:nvPr/>
          </p:nvSpPr>
          <p:spPr>
            <a:xfrm rot="2460000">
              <a:off x="1872000" y="1101414"/>
              <a:ext cx="5400000" cy="4655172"/>
            </a:xfrm>
            <a:prstGeom prst="hexagon">
              <a:avLst/>
            </a:prstGeom>
            <a:noFill/>
            <a:ln w="158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4" name="六边形 3"/>
            <p:cNvSpPr/>
            <p:nvPr/>
          </p:nvSpPr>
          <p:spPr>
            <a:xfrm rot="600000">
              <a:off x="1872000" y="1101414"/>
              <a:ext cx="5400000" cy="4655172"/>
            </a:xfrm>
            <a:prstGeom prst="hexagon">
              <a:avLst/>
            </a:prstGeom>
            <a:noFill/>
            <a:ln w="158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5" name="六边形 4"/>
            <p:cNvSpPr/>
            <p:nvPr/>
          </p:nvSpPr>
          <p:spPr>
            <a:xfrm rot="1500000">
              <a:off x="1872000" y="1101414"/>
              <a:ext cx="5400000" cy="4655172"/>
            </a:xfrm>
            <a:prstGeom prst="hexagon">
              <a:avLst/>
            </a:prstGeom>
            <a:noFill/>
            <a:ln w="158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7" name="六边形 6"/>
            <p:cNvSpPr/>
            <p:nvPr/>
          </p:nvSpPr>
          <p:spPr>
            <a:xfrm rot="21240000">
              <a:off x="1872000" y="1101414"/>
              <a:ext cx="5400000" cy="4655172"/>
            </a:xfrm>
            <a:prstGeom prst="hexagon">
              <a:avLst/>
            </a:prstGeom>
            <a:noFill/>
            <a:ln w="158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08781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10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11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12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79820">
                                      <p:cBhvr>
                                        <p:cTn id="13" dur="2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900"/>
                            </p:stCondLst>
                            <p:childTnLst>
                              <p:par>
                                <p:cTn id="1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3" grpId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 smtClean="0"/>
              <a:t>Icon</a:t>
            </a:r>
            <a:r>
              <a:rPr lang="en-US" altLang="zh-CN" sz="1400" dirty="0" smtClean="0"/>
              <a:t> </a:t>
            </a:r>
            <a:r>
              <a:rPr lang="en-US" altLang="zh-CN" sz="2800" b="0" dirty="0" smtClean="0"/>
              <a:t>(</a:t>
            </a:r>
            <a:r>
              <a:rPr lang="zh-CN" altLang="en-US" sz="2800" b="0" dirty="0" smtClean="0"/>
              <a:t>也许会用得到</a:t>
            </a:r>
            <a:r>
              <a:rPr lang="en-US" altLang="zh-CN" sz="2800" b="0" dirty="0" smtClean="0"/>
              <a:t>)</a:t>
            </a:r>
            <a:endParaRPr lang="zh-CN" altLang="en-US" b="0" dirty="0"/>
          </a:p>
        </p:txBody>
      </p:sp>
      <p:sp>
        <p:nvSpPr>
          <p:cNvPr id="4" name="椭圆 3"/>
          <p:cNvSpPr/>
          <p:nvPr/>
        </p:nvSpPr>
        <p:spPr bwMode="auto">
          <a:xfrm>
            <a:off x="1085130" y="2664838"/>
            <a:ext cx="1995341" cy="199371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accent5"/>
              </a:solidFill>
            </a:endParaRPr>
          </a:p>
        </p:txBody>
      </p:sp>
      <p:sp>
        <p:nvSpPr>
          <p:cNvPr id="5" name="任意多边形 4"/>
          <p:cNvSpPr/>
          <p:nvPr/>
        </p:nvSpPr>
        <p:spPr>
          <a:xfrm>
            <a:off x="1575924" y="2997512"/>
            <a:ext cx="1013752" cy="1328364"/>
          </a:xfrm>
          <a:custGeom>
            <a:avLst/>
            <a:gdLst>
              <a:gd name="connsiteX0" fmla="*/ 176021 w 2160240"/>
              <a:gd name="connsiteY0" fmla="*/ 1593472 h 2830659"/>
              <a:gd name="connsiteX1" fmla="*/ 176021 w 2160240"/>
              <a:gd name="connsiteY1" fmla="*/ 1694272 h 2830659"/>
              <a:gd name="connsiteX2" fmla="*/ 1984220 w 2160240"/>
              <a:gd name="connsiteY2" fmla="*/ 1694272 h 2830659"/>
              <a:gd name="connsiteX3" fmla="*/ 1984220 w 2160240"/>
              <a:gd name="connsiteY3" fmla="*/ 1593472 h 2830659"/>
              <a:gd name="connsiteX4" fmla="*/ 176021 w 2160240"/>
              <a:gd name="connsiteY4" fmla="*/ 1335610 h 2830659"/>
              <a:gd name="connsiteX5" fmla="*/ 176021 w 2160240"/>
              <a:gd name="connsiteY5" fmla="*/ 1436410 h 2830659"/>
              <a:gd name="connsiteX6" fmla="*/ 1984220 w 2160240"/>
              <a:gd name="connsiteY6" fmla="*/ 1436410 h 2830659"/>
              <a:gd name="connsiteX7" fmla="*/ 1984220 w 2160240"/>
              <a:gd name="connsiteY7" fmla="*/ 1335610 h 2830659"/>
              <a:gd name="connsiteX8" fmla="*/ 176021 w 2160240"/>
              <a:gd name="connsiteY8" fmla="*/ 1076622 h 2830659"/>
              <a:gd name="connsiteX9" fmla="*/ 176021 w 2160240"/>
              <a:gd name="connsiteY9" fmla="*/ 1177422 h 2830659"/>
              <a:gd name="connsiteX10" fmla="*/ 1984220 w 2160240"/>
              <a:gd name="connsiteY10" fmla="*/ 1177422 h 2830659"/>
              <a:gd name="connsiteX11" fmla="*/ 1984220 w 2160240"/>
              <a:gd name="connsiteY11" fmla="*/ 1076622 h 2830659"/>
              <a:gd name="connsiteX12" fmla="*/ 1048116 w 2160240"/>
              <a:gd name="connsiteY12" fmla="*/ 818573 h 2830659"/>
              <a:gd name="connsiteX13" fmla="*/ 1048116 w 2160240"/>
              <a:gd name="connsiteY13" fmla="*/ 918435 h 2830659"/>
              <a:gd name="connsiteX14" fmla="*/ 1984220 w 2160240"/>
              <a:gd name="connsiteY14" fmla="*/ 918435 h 2830659"/>
              <a:gd name="connsiteX15" fmla="*/ 1984220 w 2160240"/>
              <a:gd name="connsiteY15" fmla="*/ 818573 h 2830659"/>
              <a:gd name="connsiteX16" fmla="*/ 1048116 w 2160240"/>
              <a:gd name="connsiteY16" fmla="*/ 560524 h 2830659"/>
              <a:gd name="connsiteX17" fmla="*/ 1048116 w 2160240"/>
              <a:gd name="connsiteY17" fmla="*/ 660386 h 2830659"/>
              <a:gd name="connsiteX18" fmla="*/ 1984220 w 2160240"/>
              <a:gd name="connsiteY18" fmla="*/ 660386 h 2830659"/>
              <a:gd name="connsiteX19" fmla="*/ 1984220 w 2160240"/>
              <a:gd name="connsiteY19" fmla="*/ 560524 h 2830659"/>
              <a:gd name="connsiteX20" fmla="*/ 182377 w 2160240"/>
              <a:gd name="connsiteY20" fmla="*/ 177329 h 2830659"/>
              <a:gd name="connsiteX21" fmla="*/ 182377 w 2160240"/>
              <a:gd name="connsiteY21" fmla="*/ 897409 h 2830659"/>
              <a:gd name="connsiteX22" fmla="*/ 902457 w 2160240"/>
              <a:gd name="connsiteY22" fmla="*/ 897409 h 2830659"/>
              <a:gd name="connsiteX23" fmla="*/ 902457 w 2160240"/>
              <a:gd name="connsiteY23" fmla="*/ 177329 h 2830659"/>
              <a:gd name="connsiteX24" fmla="*/ 1735365 w 2160240"/>
              <a:gd name="connsiteY24" fmla="*/ 12628 h 2830659"/>
              <a:gd name="connsiteX25" fmla="*/ 2134839 w 2160240"/>
              <a:gd name="connsiteY25" fmla="*/ 350966 h 2830659"/>
              <a:gd name="connsiteX26" fmla="*/ 1821441 w 2160240"/>
              <a:gd name="connsiteY26" fmla="*/ 417581 h 2830659"/>
              <a:gd name="connsiteX27" fmla="*/ 0 w 2160240"/>
              <a:gd name="connsiteY27" fmla="*/ 0 h 2830659"/>
              <a:gd name="connsiteX28" fmla="*/ 1674385 w 2160240"/>
              <a:gd name="connsiteY28" fmla="*/ 0 h 2830659"/>
              <a:gd name="connsiteX29" fmla="*/ 1678590 w 2160240"/>
              <a:gd name="connsiteY29" fmla="*/ 3404 h 2830659"/>
              <a:gd name="connsiteX30" fmla="*/ 1774885 w 2160240"/>
              <a:gd name="connsiteY30" fmla="*/ 471827 h 2830659"/>
              <a:gd name="connsiteX31" fmla="*/ 2159447 w 2160240"/>
              <a:gd name="connsiteY31" fmla="*/ 392771 h 2830659"/>
              <a:gd name="connsiteX32" fmla="*/ 2160240 w 2160240"/>
              <a:gd name="connsiteY32" fmla="*/ 393413 h 2830659"/>
              <a:gd name="connsiteX33" fmla="*/ 2160240 w 2160240"/>
              <a:gd name="connsiteY33" fmla="*/ 2830659 h 2830659"/>
              <a:gd name="connsiteX34" fmla="*/ 0 w 2160240"/>
              <a:gd name="connsiteY34" fmla="*/ 2830659 h 2830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2160240" h="2830659">
                <a:moveTo>
                  <a:pt x="176021" y="1593472"/>
                </a:moveTo>
                <a:lnTo>
                  <a:pt x="176021" y="1694272"/>
                </a:lnTo>
                <a:lnTo>
                  <a:pt x="1984220" y="1694272"/>
                </a:lnTo>
                <a:lnTo>
                  <a:pt x="1984220" y="1593472"/>
                </a:lnTo>
                <a:close/>
                <a:moveTo>
                  <a:pt x="176021" y="1335610"/>
                </a:moveTo>
                <a:lnTo>
                  <a:pt x="176021" y="1436410"/>
                </a:lnTo>
                <a:lnTo>
                  <a:pt x="1984220" y="1436410"/>
                </a:lnTo>
                <a:lnTo>
                  <a:pt x="1984220" y="1335610"/>
                </a:lnTo>
                <a:close/>
                <a:moveTo>
                  <a:pt x="176021" y="1076622"/>
                </a:moveTo>
                <a:lnTo>
                  <a:pt x="176021" y="1177422"/>
                </a:lnTo>
                <a:lnTo>
                  <a:pt x="1984220" y="1177422"/>
                </a:lnTo>
                <a:lnTo>
                  <a:pt x="1984220" y="1076622"/>
                </a:lnTo>
                <a:close/>
                <a:moveTo>
                  <a:pt x="1048116" y="818573"/>
                </a:moveTo>
                <a:lnTo>
                  <a:pt x="1048116" y="918435"/>
                </a:lnTo>
                <a:lnTo>
                  <a:pt x="1984220" y="918435"/>
                </a:lnTo>
                <a:lnTo>
                  <a:pt x="1984220" y="818573"/>
                </a:lnTo>
                <a:close/>
                <a:moveTo>
                  <a:pt x="1048116" y="560524"/>
                </a:moveTo>
                <a:lnTo>
                  <a:pt x="1048116" y="660386"/>
                </a:lnTo>
                <a:lnTo>
                  <a:pt x="1984220" y="660386"/>
                </a:lnTo>
                <a:lnTo>
                  <a:pt x="1984220" y="560524"/>
                </a:lnTo>
                <a:close/>
                <a:moveTo>
                  <a:pt x="182377" y="177329"/>
                </a:moveTo>
                <a:lnTo>
                  <a:pt x="182377" y="897409"/>
                </a:lnTo>
                <a:lnTo>
                  <a:pt x="902457" y="897409"/>
                </a:lnTo>
                <a:lnTo>
                  <a:pt x="902457" y="177329"/>
                </a:lnTo>
                <a:close/>
                <a:moveTo>
                  <a:pt x="1735365" y="12628"/>
                </a:moveTo>
                <a:lnTo>
                  <a:pt x="2134839" y="350966"/>
                </a:lnTo>
                <a:lnTo>
                  <a:pt x="1821441" y="417581"/>
                </a:lnTo>
                <a:close/>
                <a:moveTo>
                  <a:pt x="0" y="0"/>
                </a:moveTo>
                <a:lnTo>
                  <a:pt x="1674385" y="0"/>
                </a:lnTo>
                <a:lnTo>
                  <a:pt x="1678590" y="3404"/>
                </a:lnTo>
                <a:lnTo>
                  <a:pt x="1774885" y="471827"/>
                </a:lnTo>
                <a:lnTo>
                  <a:pt x="2159447" y="392771"/>
                </a:lnTo>
                <a:lnTo>
                  <a:pt x="2160240" y="393413"/>
                </a:lnTo>
                <a:lnTo>
                  <a:pt x="2160240" y="2830659"/>
                </a:lnTo>
                <a:lnTo>
                  <a:pt x="0" y="283065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649834" y="3060763"/>
            <a:ext cx="337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chemeClr val="bg1"/>
                </a:solidFill>
                <a:latin typeface="+mn-ea"/>
              </a:rPr>
              <a:t>D</a:t>
            </a:r>
            <a:endParaRPr lang="en-US" altLang="zh-CN" sz="2000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534752" y="3800189"/>
            <a:ext cx="109609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600" dirty="0" smtClean="0">
                <a:solidFill>
                  <a:schemeClr val="accent2"/>
                </a:solidFill>
                <a:latin typeface="+mn-ea"/>
              </a:rPr>
              <a:t>.</a:t>
            </a:r>
            <a:r>
              <a:rPr lang="en-US" altLang="zh-CN" sz="2600" dirty="0" err="1" smtClean="0">
                <a:solidFill>
                  <a:schemeClr val="accent2"/>
                </a:solidFill>
                <a:latin typeface="+mn-ea"/>
              </a:rPr>
              <a:t>doc</a:t>
            </a:r>
            <a:r>
              <a:rPr lang="en-US" altLang="zh-CN" sz="2600" dirty="0" err="1" smtClean="0">
                <a:solidFill>
                  <a:schemeClr val="accent2"/>
                </a:solidFill>
                <a:latin typeface="+mn-ea"/>
              </a:rPr>
              <a:t>x</a:t>
            </a:r>
            <a:endParaRPr lang="zh-CN" altLang="en-US" sz="2600" dirty="0">
              <a:solidFill>
                <a:schemeClr val="accent2"/>
              </a:solidFill>
              <a:latin typeface="+mn-ea"/>
            </a:endParaRPr>
          </a:p>
        </p:txBody>
      </p:sp>
      <p:sp>
        <p:nvSpPr>
          <p:cNvPr id="39" name="椭圆 38"/>
          <p:cNvSpPr/>
          <p:nvPr/>
        </p:nvSpPr>
        <p:spPr bwMode="auto">
          <a:xfrm>
            <a:off x="3574330" y="2664838"/>
            <a:ext cx="1995341" cy="199371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accent5"/>
              </a:solidFill>
            </a:endParaRPr>
          </a:p>
        </p:txBody>
      </p:sp>
      <p:sp>
        <p:nvSpPr>
          <p:cNvPr id="40" name="任意多边形 39"/>
          <p:cNvSpPr/>
          <p:nvPr/>
        </p:nvSpPr>
        <p:spPr>
          <a:xfrm>
            <a:off x="4065124" y="2997512"/>
            <a:ext cx="1013752" cy="1328364"/>
          </a:xfrm>
          <a:custGeom>
            <a:avLst/>
            <a:gdLst>
              <a:gd name="connsiteX0" fmla="*/ 176021 w 2160240"/>
              <a:gd name="connsiteY0" fmla="*/ 1593472 h 2830659"/>
              <a:gd name="connsiteX1" fmla="*/ 176021 w 2160240"/>
              <a:gd name="connsiteY1" fmla="*/ 1694272 h 2830659"/>
              <a:gd name="connsiteX2" fmla="*/ 1984220 w 2160240"/>
              <a:gd name="connsiteY2" fmla="*/ 1694272 h 2830659"/>
              <a:gd name="connsiteX3" fmla="*/ 1984220 w 2160240"/>
              <a:gd name="connsiteY3" fmla="*/ 1593472 h 2830659"/>
              <a:gd name="connsiteX4" fmla="*/ 176021 w 2160240"/>
              <a:gd name="connsiteY4" fmla="*/ 1335610 h 2830659"/>
              <a:gd name="connsiteX5" fmla="*/ 176021 w 2160240"/>
              <a:gd name="connsiteY5" fmla="*/ 1436410 h 2830659"/>
              <a:gd name="connsiteX6" fmla="*/ 1984220 w 2160240"/>
              <a:gd name="connsiteY6" fmla="*/ 1436410 h 2830659"/>
              <a:gd name="connsiteX7" fmla="*/ 1984220 w 2160240"/>
              <a:gd name="connsiteY7" fmla="*/ 1335610 h 2830659"/>
              <a:gd name="connsiteX8" fmla="*/ 176021 w 2160240"/>
              <a:gd name="connsiteY8" fmla="*/ 1076622 h 2830659"/>
              <a:gd name="connsiteX9" fmla="*/ 176021 w 2160240"/>
              <a:gd name="connsiteY9" fmla="*/ 1177422 h 2830659"/>
              <a:gd name="connsiteX10" fmla="*/ 1984220 w 2160240"/>
              <a:gd name="connsiteY10" fmla="*/ 1177422 h 2830659"/>
              <a:gd name="connsiteX11" fmla="*/ 1984220 w 2160240"/>
              <a:gd name="connsiteY11" fmla="*/ 1076622 h 2830659"/>
              <a:gd name="connsiteX12" fmla="*/ 1048116 w 2160240"/>
              <a:gd name="connsiteY12" fmla="*/ 818573 h 2830659"/>
              <a:gd name="connsiteX13" fmla="*/ 1048116 w 2160240"/>
              <a:gd name="connsiteY13" fmla="*/ 918435 h 2830659"/>
              <a:gd name="connsiteX14" fmla="*/ 1984220 w 2160240"/>
              <a:gd name="connsiteY14" fmla="*/ 918435 h 2830659"/>
              <a:gd name="connsiteX15" fmla="*/ 1984220 w 2160240"/>
              <a:gd name="connsiteY15" fmla="*/ 818573 h 2830659"/>
              <a:gd name="connsiteX16" fmla="*/ 1048116 w 2160240"/>
              <a:gd name="connsiteY16" fmla="*/ 560524 h 2830659"/>
              <a:gd name="connsiteX17" fmla="*/ 1048116 w 2160240"/>
              <a:gd name="connsiteY17" fmla="*/ 660386 h 2830659"/>
              <a:gd name="connsiteX18" fmla="*/ 1984220 w 2160240"/>
              <a:gd name="connsiteY18" fmla="*/ 660386 h 2830659"/>
              <a:gd name="connsiteX19" fmla="*/ 1984220 w 2160240"/>
              <a:gd name="connsiteY19" fmla="*/ 560524 h 2830659"/>
              <a:gd name="connsiteX20" fmla="*/ 182377 w 2160240"/>
              <a:gd name="connsiteY20" fmla="*/ 177329 h 2830659"/>
              <a:gd name="connsiteX21" fmla="*/ 182377 w 2160240"/>
              <a:gd name="connsiteY21" fmla="*/ 897409 h 2830659"/>
              <a:gd name="connsiteX22" fmla="*/ 902457 w 2160240"/>
              <a:gd name="connsiteY22" fmla="*/ 897409 h 2830659"/>
              <a:gd name="connsiteX23" fmla="*/ 902457 w 2160240"/>
              <a:gd name="connsiteY23" fmla="*/ 177329 h 2830659"/>
              <a:gd name="connsiteX24" fmla="*/ 1735365 w 2160240"/>
              <a:gd name="connsiteY24" fmla="*/ 12628 h 2830659"/>
              <a:gd name="connsiteX25" fmla="*/ 2134839 w 2160240"/>
              <a:gd name="connsiteY25" fmla="*/ 350966 h 2830659"/>
              <a:gd name="connsiteX26" fmla="*/ 1821441 w 2160240"/>
              <a:gd name="connsiteY26" fmla="*/ 417581 h 2830659"/>
              <a:gd name="connsiteX27" fmla="*/ 0 w 2160240"/>
              <a:gd name="connsiteY27" fmla="*/ 0 h 2830659"/>
              <a:gd name="connsiteX28" fmla="*/ 1674385 w 2160240"/>
              <a:gd name="connsiteY28" fmla="*/ 0 h 2830659"/>
              <a:gd name="connsiteX29" fmla="*/ 1678590 w 2160240"/>
              <a:gd name="connsiteY29" fmla="*/ 3404 h 2830659"/>
              <a:gd name="connsiteX30" fmla="*/ 1774885 w 2160240"/>
              <a:gd name="connsiteY30" fmla="*/ 471827 h 2830659"/>
              <a:gd name="connsiteX31" fmla="*/ 2159447 w 2160240"/>
              <a:gd name="connsiteY31" fmla="*/ 392771 h 2830659"/>
              <a:gd name="connsiteX32" fmla="*/ 2160240 w 2160240"/>
              <a:gd name="connsiteY32" fmla="*/ 393413 h 2830659"/>
              <a:gd name="connsiteX33" fmla="*/ 2160240 w 2160240"/>
              <a:gd name="connsiteY33" fmla="*/ 2830659 h 2830659"/>
              <a:gd name="connsiteX34" fmla="*/ 0 w 2160240"/>
              <a:gd name="connsiteY34" fmla="*/ 2830659 h 2830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2160240" h="2830659">
                <a:moveTo>
                  <a:pt x="176021" y="1593472"/>
                </a:moveTo>
                <a:lnTo>
                  <a:pt x="176021" y="1694272"/>
                </a:lnTo>
                <a:lnTo>
                  <a:pt x="1984220" y="1694272"/>
                </a:lnTo>
                <a:lnTo>
                  <a:pt x="1984220" y="1593472"/>
                </a:lnTo>
                <a:close/>
                <a:moveTo>
                  <a:pt x="176021" y="1335610"/>
                </a:moveTo>
                <a:lnTo>
                  <a:pt x="176021" y="1436410"/>
                </a:lnTo>
                <a:lnTo>
                  <a:pt x="1984220" y="1436410"/>
                </a:lnTo>
                <a:lnTo>
                  <a:pt x="1984220" y="1335610"/>
                </a:lnTo>
                <a:close/>
                <a:moveTo>
                  <a:pt x="176021" y="1076622"/>
                </a:moveTo>
                <a:lnTo>
                  <a:pt x="176021" y="1177422"/>
                </a:lnTo>
                <a:lnTo>
                  <a:pt x="1984220" y="1177422"/>
                </a:lnTo>
                <a:lnTo>
                  <a:pt x="1984220" y="1076622"/>
                </a:lnTo>
                <a:close/>
                <a:moveTo>
                  <a:pt x="1048116" y="818573"/>
                </a:moveTo>
                <a:lnTo>
                  <a:pt x="1048116" y="918435"/>
                </a:lnTo>
                <a:lnTo>
                  <a:pt x="1984220" y="918435"/>
                </a:lnTo>
                <a:lnTo>
                  <a:pt x="1984220" y="818573"/>
                </a:lnTo>
                <a:close/>
                <a:moveTo>
                  <a:pt x="1048116" y="560524"/>
                </a:moveTo>
                <a:lnTo>
                  <a:pt x="1048116" y="660386"/>
                </a:lnTo>
                <a:lnTo>
                  <a:pt x="1984220" y="660386"/>
                </a:lnTo>
                <a:lnTo>
                  <a:pt x="1984220" y="560524"/>
                </a:lnTo>
                <a:close/>
                <a:moveTo>
                  <a:pt x="182377" y="177329"/>
                </a:moveTo>
                <a:lnTo>
                  <a:pt x="182377" y="897409"/>
                </a:lnTo>
                <a:lnTo>
                  <a:pt x="902457" y="897409"/>
                </a:lnTo>
                <a:lnTo>
                  <a:pt x="902457" y="177329"/>
                </a:lnTo>
                <a:close/>
                <a:moveTo>
                  <a:pt x="1735365" y="12628"/>
                </a:moveTo>
                <a:lnTo>
                  <a:pt x="2134839" y="350966"/>
                </a:lnTo>
                <a:lnTo>
                  <a:pt x="1821441" y="417581"/>
                </a:lnTo>
                <a:close/>
                <a:moveTo>
                  <a:pt x="0" y="0"/>
                </a:moveTo>
                <a:lnTo>
                  <a:pt x="1674385" y="0"/>
                </a:lnTo>
                <a:lnTo>
                  <a:pt x="1678590" y="3404"/>
                </a:lnTo>
                <a:lnTo>
                  <a:pt x="1774885" y="471827"/>
                </a:lnTo>
                <a:lnTo>
                  <a:pt x="2159447" y="392771"/>
                </a:lnTo>
                <a:lnTo>
                  <a:pt x="2160240" y="393413"/>
                </a:lnTo>
                <a:lnTo>
                  <a:pt x="2160240" y="2830659"/>
                </a:lnTo>
                <a:lnTo>
                  <a:pt x="0" y="283065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4139034" y="3060763"/>
            <a:ext cx="337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chemeClr val="bg1"/>
                </a:solidFill>
                <a:latin typeface="+mn-ea"/>
              </a:rPr>
              <a:t>X</a:t>
            </a:r>
            <a:endParaRPr lang="en-US" altLang="zh-CN" sz="2000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4023952" y="3800189"/>
            <a:ext cx="109609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600" dirty="0" smtClean="0">
                <a:solidFill>
                  <a:schemeClr val="accent2"/>
                </a:solidFill>
                <a:latin typeface="+mn-ea"/>
              </a:rPr>
              <a:t>.</a:t>
            </a:r>
            <a:r>
              <a:rPr lang="en-US" altLang="zh-CN" sz="2600" dirty="0" err="1" smtClean="0">
                <a:solidFill>
                  <a:schemeClr val="accent2"/>
                </a:solidFill>
                <a:latin typeface="+mn-ea"/>
              </a:rPr>
              <a:t>xlsx</a:t>
            </a:r>
            <a:endParaRPr lang="zh-CN" altLang="en-US" sz="2600" dirty="0">
              <a:solidFill>
                <a:schemeClr val="accent2"/>
              </a:solidFill>
              <a:latin typeface="+mn-ea"/>
            </a:endParaRPr>
          </a:p>
        </p:txBody>
      </p:sp>
      <p:sp>
        <p:nvSpPr>
          <p:cNvPr id="44" name="椭圆 43"/>
          <p:cNvSpPr/>
          <p:nvPr/>
        </p:nvSpPr>
        <p:spPr bwMode="auto">
          <a:xfrm>
            <a:off x="6063530" y="2664838"/>
            <a:ext cx="1995341" cy="199371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schemeClr val="accent5"/>
              </a:solidFill>
            </a:endParaRPr>
          </a:p>
        </p:txBody>
      </p:sp>
      <p:sp>
        <p:nvSpPr>
          <p:cNvPr id="45" name="任意多边形 44"/>
          <p:cNvSpPr/>
          <p:nvPr/>
        </p:nvSpPr>
        <p:spPr>
          <a:xfrm>
            <a:off x="6554324" y="2997512"/>
            <a:ext cx="1013752" cy="1328364"/>
          </a:xfrm>
          <a:custGeom>
            <a:avLst/>
            <a:gdLst>
              <a:gd name="connsiteX0" fmla="*/ 176021 w 2160240"/>
              <a:gd name="connsiteY0" fmla="*/ 1593472 h 2830659"/>
              <a:gd name="connsiteX1" fmla="*/ 176021 w 2160240"/>
              <a:gd name="connsiteY1" fmla="*/ 1694272 h 2830659"/>
              <a:gd name="connsiteX2" fmla="*/ 1984220 w 2160240"/>
              <a:gd name="connsiteY2" fmla="*/ 1694272 h 2830659"/>
              <a:gd name="connsiteX3" fmla="*/ 1984220 w 2160240"/>
              <a:gd name="connsiteY3" fmla="*/ 1593472 h 2830659"/>
              <a:gd name="connsiteX4" fmla="*/ 176021 w 2160240"/>
              <a:gd name="connsiteY4" fmla="*/ 1335610 h 2830659"/>
              <a:gd name="connsiteX5" fmla="*/ 176021 w 2160240"/>
              <a:gd name="connsiteY5" fmla="*/ 1436410 h 2830659"/>
              <a:gd name="connsiteX6" fmla="*/ 1984220 w 2160240"/>
              <a:gd name="connsiteY6" fmla="*/ 1436410 h 2830659"/>
              <a:gd name="connsiteX7" fmla="*/ 1984220 w 2160240"/>
              <a:gd name="connsiteY7" fmla="*/ 1335610 h 2830659"/>
              <a:gd name="connsiteX8" fmla="*/ 176021 w 2160240"/>
              <a:gd name="connsiteY8" fmla="*/ 1076622 h 2830659"/>
              <a:gd name="connsiteX9" fmla="*/ 176021 w 2160240"/>
              <a:gd name="connsiteY9" fmla="*/ 1177422 h 2830659"/>
              <a:gd name="connsiteX10" fmla="*/ 1984220 w 2160240"/>
              <a:gd name="connsiteY10" fmla="*/ 1177422 h 2830659"/>
              <a:gd name="connsiteX11" fmla="*/ 1984220 w 2160240"/>
              <a:gd name="connsiteY11" fmla="*/ 1076622 h 2830659"/>
              <a:gd name="connsiteX12" fmla="*/ 1048116 w 2160240"/>
              <a:gd name="connsiteY12" fmla="*/ 818573 h 2830659"/>
              <a:gd name="connsiteX13" fmla="*/ 1048116 w 2160240"/>
              <a:gd name="connsiteY13" fmla="*/ 918435 h 2830659"/>
              <a:gd name="connsiteX14" fmla="*/ 1984220 w 2160240"/>
              <a:gd name="connsiteY14" fmla="*/ 918435 h 2830659"/>
              <a:gd name="connsiteX15" fmla="*/ 1984220 w 2160240"/>
              <a:gd name="connsiteY15" fmla="*/ 818573 h 2830659"/>
              <a:gd name="connsiteX16" fmla="*/ 1048116 w 2160240"/>
              <a:gd name="connsiteY16" fmla="*/ 560524 h 2830659"/>
              <a:gd name="connsiteX17" fmla="*/ 1048116 w 2160240"/>
              <a:gd name="connsiteY17" fmla="*/ 660386 h 2830659"/>
              <a:gd name="connsiteX18" fmla="*/ 1984220 w 2160240"/>
              <a:gd name="connsiteY18" fmla="*/ 660386 h 2830659"/>
              <a:gd name="connsiteX19" fmla="*/ 1984220 w 2160240"/>
              <a:gd name="connsiteY19" fmla="*/ 560524 h 2830659"/>
              <a:gd name="connsiteX20" fmla="*/ 182377 w 2160240"/>
              <a:gd name="connsiteY20" fmla="*/ 177329 h 2830659"/>
              <a:gd name="connsiteX21" fmla="*/ 182377 w 2160240"/>
              <a:gd name="connsiteY21" fmla="*/ 897409 h 2830659"/>
              <a:gd name="connsiteX22" fmla="*/ 902457 w 2160240"/>
              <a:gd name="connsiteY22" fmla="*/ 897409 h 2830659"/>
              <a:gd name="connsiteX23" fmla="*/ 902457 w 2160240"/>
              <a:gd name="connsiteY23" fmla="*/ 177329 h 2830659"/>
              <a:gd name="connsiteX24" fmla="*/ 1735365 w 2160240"/>
              <a:gd name="connsiteY24" fmla="*/ 12628 h 2830659"/>
              <a:gd name="connsiteX25" fmla="*/ 2134839 w 2160240"/>
              <a:gd name="connsiteY25" fmla="*/ 350966 h 2830659"/>
              <a:gd name="connsiteX26" fmla="*/ 1821441 w 2160240"/>
              <a:gd name="connsiteY26" fmla="*/ 417581 h 2830659"/>
              <a:gd name="connsiteX27" fmla="*/ 0 w 2160240"/>
              <a:gd name="connsiteY27" fmla="*/ 0 h 2830659"/>
              <a:gd name="connsiteX28" fmla="*/ 1674385 w 2160240"/>
              <a:gd name="connsiteY28" fmla="*/ 0 h 2830659"/>
              <a:gd name="connsiteX29" fmla="*/ 1678590 w 2160240"/>
              <a:gd name="connsiteY29" fmla="*/ 3404 h 2830659"/>
              <a:gd name="connsiteX30" fmla="*/ 1774885 w 2160240"/>
              <a:gd name="connsiteY30" fmla="*/ 471827 h 2830659"/>
              <a:gd name="connsiteX31" fmla="*/ 2159447 w 2160240"/>
              <a:gd name="connsiteY31" fmla="*/ 392771 h 2830659"/>
              <a:gd name="connsiteX32" fmla="*/ 2160240 w 2160240"/>
              <a:gd name="connsiteY32" fmla="*/ 393413 h 2830659"/>
              <a:gd name="connsiteX33" fmla="*/ 2160240 w 2160240"/>
              <a:gd name="connsiteY33" fmla="*/ 2830659 h 2830659"/>
              <a:gd name="connsiteX34" fmla="*/ 0 w 2160240"/>
              <a:gd name="connsiteY34" fmla="*/ 2830659 h 2830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2160240" h="2830659">
                <a:moveTo>
                  <a:pt x="176021" y="1593472"/>
                </a:moveTo>
                <a:lnTo>
                  <a:pt x="176021" y="1694272"/>
                </a:lnTo>
                <a:lnTo>
                  <a:pt x="1984220" y="1694272"/>
                </a:lnTo>
                <a:lnTo>
                  <a:pt x="1984220" y="1593472"/>
                </a:lnTo>
                <a:close/>
                <a:moveTo>
                  <a:pt x="176021" y="1335610"/>
                </a:moveTo>
                <a:lnTo>
                  <a:pt x="176021" y="1436410"/>
                </a:lnTo>
                <a:lnTo>
                  <a:pt x="1984220" y="1436410"/>
                </a:lnTo>
                <a:lnTo>
                  <a:pt x="1984220" y="1335610"/>
                </a:lnTo>
                <a:close/>
                <a:moveTo>
                  <a:pt x="176021" y="1076622"/>
                </a:moveTo>
                <a:lnTo>
                  <a:pt x="176021" y="1177422"/>
                </a:lnTo>
                <a:lnTo>
                  <a:pt x="1984220" y="1177422"/>
                </a:lnTo>
                <a:lnTo>
                  <a:pt x="1984220" y="1076622"/>
                </a:lnTo>
                <a:close/>
                <a:moveTo>
                  <a:pt x="1048116" y="818573"/>
                </a:moveTo>
                <a:lnTo>
                  <a:pt x="1048116" y="918435"/>
                </a:lnTo>
                <a:lnTo>
                  <a:pt x="1984220" y="918435"/>
                </a:lnTo>
                <a:lnTo>
                  <a:pt x="1984220" y="818573"/>
                </a:lnTo>
                <a:close/>
                <a:moveTo>
                  <a:pt x="1048116" y="560524"/>
                </a:moveTo>
                <a:lnTo>
                  <a:pt x="1048116" y="660386"/>
                </a:lnTo>
                <a:lnTo>
                  <a:pt x="1984220" y="660386"/>
                </a:lnTo>
                <a:lnTo>
                  <a:pt x="1984220" y="560524"/>
                </a:lnTo>
                <a:close/>
                <a:moveTo>
                  <a:pt x="182377" y="177329"/>
                </a:moveTo>
                <a:lnTo>
                  <a:pt x="182377" y="897409"/>
                </a:lnTo>
                <a:lnTo>
                  <a:pt x="902457" y="897409"/>
                </a:lnTo>
                <a:lnTo>
                  <a:pt x="902457" y="177329"/>
                </a:lnTo>
                <a:close/>
                <a:moveTo>
                  <a:pt x="1735365" y="12628"/>
                </a:moveTo>
                <a:lnTo>
                  <a:pt x="2134839" y="350966"/>
                </a:lnTo>
                <a:lnTo>
                  <a:pt x="1821441" y="417581"/>
                </a:lnTo>
                <a:close/>
                <a:moveTo>
                  <a:pt x="0" y="0"/>
                </a:moveTo>
                <a:lnTo>
                  <a:pt x="1674385" y="0"/>
                </a:lnTo>
                <a:lnTo>
                  <a:pt x="1678590" y="3404"/>
                </a:lnTo>
                <a:lnTo>
                  <a:pt x="1774885" y="471827"/>
                </a:lnTo>
                <a:lnTo>
                  <a:pt x="2159447" y="392771"/>
                </a:lnTo>
                <a:lnTo>
                  <a:pt x="2160240" y="393413"/>
                </a:lnTo>
                <a:lnTo>
                  <a:pt x="2160240" y="2830659"/>
                </a:lnTo>
                <a:lnTo>
                  <a:pt x="0" y="283065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6628234" y="3060763"/>
            <a:ext cx="337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chemeClr val="bg1"/>
                </a:solidFill>
                <a:latin typeface="+mn-ea"/>
              </a:rPr>
              <a:t>P</a:t>
            </a:r>
            <a:endParaRPr lang="en-US" altLang="zh-CN" sz="2000" dirty="0" smtClean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6513152" y="3800189"/>
            <a:ext cx="109609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600" dirty="0" smtClean="0">
                <a:solidFill>
                  <a:schemeClr val="accent2"/>
                </a:solidFill>
                <a:latin typeface="+mn-ea"/>
              </a:rPr>
              <a:t>.</a:t>
            </a:r>
            <a:r>
              <a:rPr lang="en-US" altLang="zh-CN" sz="2600" dirty="0" err="1" smtClean="0">
                <a:solidFill>
                  <a:schemeClr val="accent2"/>
                </a:solidFill>
                <a:latin typeface="+mn-ea"/>
              </a:rPr>
              <a:t>pptx</a:t>
            </a:r>
            <a:endParaRPr lang="zh-CN" altLang="en-US" sz="2600" dirty="0">
              <a:solidFill>
                <a:schemeClr val="accent2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78514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1425979" y="1475723"/>
            <a:ext cx="6292043" cy="4022668"/>
            <a:chOff x="1425979" y="1475723"/>
            <a:chExt cx="6292043" cy="4022668"/>
          </a:xfrm>
        </p:grpSpPr>
        <p:grpSp>
          <p:nvGrpSpPr>
            <p:cNvPr id="12" name="组合 11"/>
            <p:cNvGrpSpPr/>
            <p:nvPr/>
          </p:nvGrpSpPr>
          <p:grpSpPr>
            <a:xfrm>
              <a:off x="1606446" y="2210333"/>
              <a:ext cx="5931108" cy="2653258"/>
              <a:chOff x="1645350" y="2210333"/>
              <a:chExt cx="5931108" cy="2653258"/>
            </a:xfrm>
          </p:grpSpPr>
          <p:pic>
            <p:nvPicPr>
              <p:cNvPr id="10" name="图片 9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23200" y="2210333"/>
                <a:ext cx="2653258" cy="2653258"/>
              </a:xfrm>
              <a:prstGeom prst="rect">
                <a:avLst/>
              </a:prstGeom>
            </p:spPr>
          </p:pic>
          <p:pic>
            <p:nvPicPr>
              <p:cNvPr id="11" name="图片 10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4755" t="4755" r="4755" b="4755"/>
              <a:stretch>
                <a:fillRect/>
              </a:stretch>
            </p:blipFill>
            <p:spPr>
              <a:xfrm>
                <a:off x="1645350" y="2226037"/>
                <a:ext cx="2621850" cy="2621850"/>
              </a:xfrm>
              <a:custGeom>
                <a:avLst/>
                <a:gdLst>
                  <a:gd name="connsiteX0" fmla="*/ 0 w 3447641"/>
                  <a:gd name="connsiteY0" fmla="*/ 0 h 3447641"/>
                  <a:gd name="connsiteX1" fmla="*/ 3447641 w 3447641"/>
                  <a:gd name="connsiteY1" fmla="*/ 0 h 3447641"/>
                  <a:gd name="connsiteX2" fmla="*/ 3447641 w 3447641"/>
                  <a:gd name="connsiteY2" fmla="*/ 3447641 h 3447641"/>
                  <a:gd name="connsiteX3" fmla="*/ 0 w 3447641"/>
                  <a:gd name="connsiteY3" fmla="*/ 3447641 h 3447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447641" h="3447641">
                    <a:moveTo>
                      <a:pt x="0" y="0"/>
                    </a:moveTo>
                    <a:lnTo>
                      <a:pt x="3447641" y="0"/>
                    </a:lnTo>
                    <a:lnTo>
                      <a:pt x="3447641" y="3447641"/>
                    </a:lnTo>
                    <a:lnTo>
                      <a:pt x="0" y="3447641"/>
                    </a:lnTo>
                    <a:close/>
                  </a:path>
                </a:pathLst>
              </a:custGeom>
            </p:spPr>
          </p:pic>
        </p:grpSp>
        <p:sp>
          <p:nvSpPr>
            <p:cNvPr id="5" name="矩形 4"/>
            <p:cNvSpPr/>
            <p:nvPr/>
          </p:nvSpPr>
          <p:spPr>
            <a:xfrm>
              <a:off x="1425979" y="4975171"/>
              <a:ext cx="6292043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 smtClean="0">
                  <a:solidFill>
                    <a:schemeClr val="accent2"/>
                  </a:solidFill>
                </a:rPr>
                <a:t>http://www.yanj.cn/store-1461.html</a:t>
              </a:r>
              <a:endParaRPr lang="zh-CN" altLang="en-US" sz="2800" dirty="0">
                <a:solidFill>
                  <a:schemeClr val="accent2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2646068" y="1475723"/>
              <a:ext cx="3851864" cy="70788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4000" dirty="0" smtClean="0">
                  <a:solidFill>
                    <a:schemeClr val="accent2"/>
                  </a:solidFill>
                  <a:latin typeface="+mn-ea"/>
                </a:rPr>
                <a:t>更多模版</a:t>
              </a:r>
              <a:endParaRPr lang="zh-CN" altLang="en-US" sz="4000" dirty="0">
                <a:solidFill>
                  <a:schemeClr val="accent2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963670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主题">
  <a:themeElements>
    <a:clrScheme name="论文蓝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65FAA"/>
      </a:accent1>
      <a:accent2>
        <a:srgbClr val="4472C4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384</TotalTime>
  <Words>627</Words>
  <Application>Microsoft Office PowerPoint</Application>
  <PresentationFormat>全屏显示(4:3)</PresentationFormat>
  <Paragraphs>87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8" baseType="lpstr">
      <vt:lpstr>MS Gothic</vt:lpstr>
      <vt:lpstr>华文细黑</vt:lpstr>
      <vt:lpstr>微软雅黑</vt:lpstr>
      <vt:lpstr>微软雅黑 Light</vt:lpstr>
      <vt:lpstr>Arial</vt:lpstr>
      <vt:lpstr>Microsoft New Tai Lue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蒋金晟</dc:creator>
  <cp:lastModifiedBy>蒋金晟</cp:lastModifiedBy>
  <cp:revision>109</cp:revision>
  <dcterms:created xsi:type="dcterms:W3CDTF">2015-04-19T07:39:12Z</dcterms:created>
  <dcterms:modified xsi:type="dcterms:W3CDTF">2015-04-19T14:03:40Z</dcterms:modified>
</cp:coreProperties>
</file>